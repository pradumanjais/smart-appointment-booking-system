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Gordita Bold" charset="1" panose="00000000000000000000"/>
      <p:regular r:id="rId17"/>
    </p:embeddedFont>
    <p:embeddedFont>
      <p:font typeface="Gordita" charset="1" panose="00000000000000000000"/>
      <p:regular r:id="rId18"/>
    </p:embeddedFont>
    <p:embeddedFont>
      <p:font typeface="Nunito" charset="1" panose="00000000000000000000"/>
      <p:regular r:id="rId19"/>
    </p:embeddedFont>
    <p:embeddedFont>
      <p:font typeface="Poppins Medium" charset="1" panose="00000600000000000000"/>
      <p:regular r:id="rId20"/>
    </p:embeddedFont>
    <p:embeddedFont>
      <p:font typeface="Public Sans" charset="1" panose="00000000000000000000"/>
      <p:regular r:id="rId21"/>
    </p:embeddedFont>
    <p:embeddedFont>
      <p:font typeface="Public Sans Bold" charset="1" panose="00000000000000000000"/>
      <p:regular r:id="rId22"/>
    </p:embeddedFont>
    <p:embeddedFont>
      <p:font typeface="Gotham Bold" charset="1" panose="0000000000000000000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12.png" Type="http://schemas.openxmlformats.org/officeDocument/2006/relationships/image"/><Relationship Id="rId9" Target="../media/image1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8.png" Type="http://schemas.openxmlformats.org/officeDocument/2006/relationships/image"/><Relationship Id="rId4"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2.pn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7.png" Type="http://schemas.openxmlformats.org/officeDocument/2006/relationships/image"/><Relationship Id="rId4" Target="../media/image1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19.png" Type="http://schemas.openxmlformats.org/officeDocument/2006/relationships/image"/><Relationship Id="rId4" Target="../media/image20.svg" Type="http://schemas.openxmlformats.org/officeDocument/2006/relationships/image"/><Relationship Id="rId5" Target="../media/image22.png" Type="http://schemas.openxmlformats.org/officeDocument/2006/relationships/image"/><Relationship Id="rId6" Target="../media/image23.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24.png" Type="http://schemas.openxmlformats.org/officeDocument/2006/relationships/image"/><Relationship Id="rId4" Target="../media/image2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media/image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png" Type="http://schemas.openxmlformats.org/officeDocument/2006/relationships/image"/><Relationship Id="rId4" Target="../media/image29.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AF4"/>
        </a:solidFill>
      </p:bgPr>
    </p:bg>
    <p:spTree>
      <p:nvGrpSpPr>
        <p:cNvPr id="1" name=""/>
        <p:cNvGrpSpPr/>
        <p:nvPr/>
      </p:nvGrpSpPr>
      <p:grpSpPr>
        <a:xfrm>
          <a:off x="0" y="0"/>
          <a:ext cx="0" cy="0"/>
          <a:chOff x="0" y="0"/>
          <a:chExt cx="0" cy="0"/>
        </a:xfrm>
      </p:grpSpPr>
      <p:grpSp>
        <p:nvGrpSpPr>
          <p:cNvPr name="Group 2" id="2"/>
          <p:cNvGrpSpPr/>
          <p:nvPr/>
        </p:nvGrpSpPr>
        <p:grpSpPr>
          <a:xfrm rot="0">
            <a:off x="0" y="7539504"/>
            <a:ext cx="18288000" cy="2766546"/>
            <a:chOff x="0" y="0"/>
            <a:chExt cx="4816593" cy="728638"/>
          </a:xfrm>
        </p:grpSpPr>
        <p:sp>
          <p:nvSpPr>
            <p:cNvPr name="Freeform 3" id="3"/>
            <p:cNvSpPr/>
            <p:nvPr/>
          </p:nvSpPr>
          <p:spPr>
            <a:xfrm flipH="false" flipV="false" rot="0">
              <a:off x="0" y="0"/>
              <a:ext cx="4816592" cy="728638"/>
            </a:xfrm>
            <a:custGeom>
              <a:avLst/>
              <a:gdLst/>
              <a:ahLst/>
              <a:cxnLst/>
              <a:rect r="r" b="b" t="t" l="l"/>
              <a:pathLst>
                <a:path h="728638" w="4816592">
                  <a:moveTo>
                    <a:pt x="0" y="0"/>
                  </a:moveTo>
                  <a:lnTo>
                    <a:pt x="4816592" y="0"/>
                  </a:lnTo>
                  <a:lnTo>
                    <a:pt x="4816592" y="728638"/>
                  </a:lnTo>
                  <a:lnTo>
                    <a:pt x="0" y="728638"/>
                  </a:lnTo>
                  <a:close/>
                </a:path>
              </a:pathLst>
            </a:custGeom>
            <a:solidFill>
              <a:srgbClr val="8EAEF1"/>
            </a:solidFill>
          </p:spPr>
        </p:sp>
        <p:sp>
          <p:nvSpPr>
            <p:cNvPr name="TextBox 4" id="4"/>
            <p:cNvSpPr txBox="true"/>
            <p:nvPr/>
          </p:nvSpPr>
          <p:spPr>
            <a:xfrm>
              <a:off x="0" y="-19050"/>
              <a:ext cx="4816593" cy="747688"/>
            </a:xfrm>
            <a:prstGeom prst="rect">
              <a:avLst/>
            </a:prstGeom>
          </p:spPr>
          <p:txBody>
            <a:bodyPr anchor="ctr" rtlCol="false" tIns="50800" lIns="50800" bIns="50800" rIns="50800"/>
            <a:lstStyle/>
            <a:p>
              <a:pPr algn="ctr">
                <a:lnSpc>
                  <a:spcPts val="3137"/>
                </a:lnSpc>
              </a:pPr>
            </a:p>
          </p:txBody>
        </p:sp>
      </p:grpSp>
      <p:sp>
        <p:nvSpPr>
          <p:cNvPr name="Freeform 5" id="5"/>
          <p:cNvSpPr/>
          <p:nvPr/>
        </p:nvSpPr>
        <p:spPr>
          <a:xfrm flipH="false" flipV="false" rot="0">
            <a:off x="16322374" y="4866540"/>
            <a:ext cx="3931252" cy="6635024"/>
          </a:xfrm>
          <a:custGeom>
            <a:avLst/>
            <a:gdLst/>
            <a:ahLst/>
            <a:cxnLst/>
            <a:rect r="r" b="b" t="t" l="l"/>
            <a:pathLst>
              <a:path h="6635024" w="3931252">
                <a:moveTo>
                  <a:pt x="0" y="0"/>
                </a:moveTo>
                <a:lnTo>
                  <a:pt x="3931252" y="0"/>
                </a:lnTo>
                <a:lnTo>
                  <a:pt x="3931252" y="6635024"/>
                </a:lnTo>
                <a:lnTo>
                  <a:pt x="0" y="6635024"/>
                </a:lnTo>
                <a:lnTo>
                  <a:pt x="0" y="0"/>
                </a:lnTo>
                <a:close/>
              </a:path>
            </a:pathLst>
          </a:custGeom>
          <a:blipFill>
            <a:blip r:embed="rId2"/>
            <a:stretch>
              <a:fillRect l="0" t="0" r="0" b="0"/>
            </a:stretch>
          </a:blipFill>
          <a:ln cap="sq">
            <a:noFill/>
            <a:prstDash val="solid"/>
            <a:miter/>
          </a:ln>
        </p:spPr>
      </p:sp>
      <p:sp>
        <p:nvSpPr>
          <p:cNvPr name="Freeform 6" id="6"/>
          <p:cNvSpPr/>
          <p:nvPr/>
        </p:nvSpPr>
        <p:spPr>
          <a:xfrm flipH="false" flipV="false" rot="0">
            <a:off x="16699706" y="1028700"/>
            <a:ext cx="1119188" cy="1959979"/>
          </a:xfrm>
          <a:custGeom>
            <a:avLst/>
            <a:gdLst/>
            <a:ahLst/>
            <a:cxnLst/>
            <a:rect r="r" b="b" t="t" l="l"/>
            <a:pathLst>
              <a:path h="1959979" w="1119188">
                <a:moveTo>
                  <a:pt x="0" y="0"/>
                </a:moveTo>
                <a:lnTo>
                  <a:pt x="1119188" y="0"/>
                </a:lnTo>
                <a:lnTo>
                  <a:pt x="1119188" y="1959979"/>
                </a:lnTo>
                <a:lnTo>
                  <a:pt x="0" y="1959979"/>
                </a:lnTo>
                <a:lnTo>
                  <a:pt x="0" y="0"/>
                </a:lnTo>
                <a:close/>
              </a:path>
            </a:pathLst>
          </a:custGeom>
          <a:blipFill>
            <a:blip r:embed="rId3"/>
            <a:stretch>
              <a:fillRect l="0" t="0" r="-119248" b="0"/>
            </a:stretch>
          </a:blipFill>
          <a:ln cap="sq">
            <a:noFill/>
            <a:prstDash val="solid"/>
            <a:miter/>
          </a:ln>
        </p:spPr>
      </p:sp>
      <p:sp>
        <p:nvSpPr>
          <p:cNvPr name="TextBox 7" id="7"/>
          <p:cNvSpPr txBox="true"/>
          <p:nvPr/>
        </p:nvSpPr>
        <p:spPr>
          <a:xfrm rot="0">
            <a:off x="3865267" y="1446899"/>
            <a:ext cx="10557466" cy="3102610"/>
          </a:xfrm>
          <a:prstGeom prst="rect">
            <a:avLst/>
          </a:prstGeom>
        </p:spPr>
        <p:txBody>
          <a:bodyPr anchor="t" rtlCol="false" tIns="0" lIns="0" bIns="0" rIns="0">
            <a:spAutoFit/>
          </a:bodyPr>
          <a:lstStyle/>
          <a:p>
            <a:pPr algn="ctr">
              <a:lnSpc>
                <a:spcPts val="8119"/>
              </a:lnSpc>
            </a:pPr>
            <a:r>
              <a:rPr lang="en-US" b="true" sz="6999">
                <a:solidFill>
                  <a:srgbClr val="1C2011"/>
                </a:solidFill>
                <a:latin typeface="Gordita Bold"/>
                <a:ea typeface="Gordita Bold"/>
                <a:cs typeface="Gordita Bold"/>
                <a:sym typeface="Gordita Bold"/>
              </a:rPr>
              <a:t>SMART </a:t>
            </a:r>
          </a:p>
          <a:p>
            <a:pPr algn="ctr">
              <a:lnSpc>
                <a:spcPts val="8119"/>
              </a:lnSpc>
            </a:pPr>
            <a:r>
              <a:rPr lang="en-US" b="true" sz="6999">
                <a:solidFill>
                  <a:srgbClr val="1C2011"/>
                </a:solidFill>
                <a:latin typeface="Gordita Bold"/>
                <a:ea typeface="Gordita Bold"/>
                <a:cs typeface="Gordita Bold"/>
                <a:sym typeface="Gordita Bold"/>
              </a:rPr>
              <a:t>APP</a:t>
            </a:r>
            <a:r>
              <a:rPr lang="en-US" b="true" sz="6999">
                <a:solidFill>
                  <a:srgbClr val="1C2011"/>
                </a:solidFill>
                <a:latin typeface="Gordita Bold"/>
                <a:ea typeface="Gordita Bold"/>
                <a:cs typeface="Gordita Bold"/>
                <a:sym typeface="Gordita Bold"/>
              </a:rPr>
              <a:t>OINTMENT BOOKING SYSTEM</a:t>
            </a:r>
          </a:p>
        </p:txBody>
      </p:sp>
      <p:sp>
        <p:nvSpPr>
          <p:cNvPr name="TextBox 8" id="8"/>
          <p:cNvSpPr txBox="true"/>
          <p:nvPr/>
        </p:nvSpPr>
        <p:spPr>
          <a:xfrm rot="0">
            <a:off x="5582018" y="4940034"/>
            <a:ext cx="7122339" cy="1749425"/>
          </a:xfrm>
          <a:prstGeom prst="rect">
            <a:avLst/>
          </a:prstGeom>
        </p:spPr>
        <p:txBody>
          <a:bodyPr anchor="t" rtlCol="false" tIns="0" lIns="0" bIns="0" rIns="0">
            <a:spAutoFit/>
          </a:bodyPr>
          <a:lstStyle/>
          <a:p>
            <a:pPr algn="ctr">
              <a:lnSpc>
                <a:spcPts val="2800"/>
              </a:lnSpc>
            </a:pPr>
            <a:r>
              <a:rPr lang="en-US" sz="2000">
                <a:solidFill>
                  <a:srgbClr val="1C2011"/>
                </a:solidFill>
                <a:latin typeface="Gordita"/>
                <a:ea typeface="Gordita"/>
                <a:cs typeface="Gordita"/>
                <a:sym typeface="Gordita"/>
              </a:rPr>
              <a:t>An Automated and Scalable Web-Based Solution for Efficient Scheduling</a:t>
            </a:r>
          </a:p>
          <a:p>
            <a:pPr algn="ctr">
              <a:lnSpc>
                <a:spcPts val="2800"/>
              </a:lnSpc>
            </a:pPr>
          </a:p>
          <a:p>
            <a:pPr algn="ctr">
              <a:lnSpc>
                <a:spcPts val="2800"/>
              </a:lnSpc>
            </a:pPr>
          </a:p>
          <a:p>
            <a:pPr algn="ctr">
              <a:lnSpc>
                <a:spcPts val="2800"/>
              </a:lnSpc>
              <a:spcBef>
                <a:spcPct val="0"/>
              </a:spcBef>
            </a:pPr>
          </a:p>
        </p:txBody>
      </p:sp>
      <p:sp>
        <p:nvSpPr>
          <p:cNvPr name="AutoShape 9" id="9"/>
          <p:cNvSpPr/>
          <p:nvPr/>
        </p:nvSpPr>
        <p:spPr>
          <a:xfrm>
            <a:off x="5837885" y="4725722"/>
            <a:ext cx="6492240" cy="0"/>
          </a:xfrm>
          <a:prstGeom prst="line">
            <a:avLst/>
          </a:prstGeom>
          <a:ln cap="flat" w="38100">
            <a:solidFill>
              <a:srgbClr val="000000"/>
            </a:solidFill>
            <a:prstDash val="solid"/>
            <a:headEnd type="none" len="sm" w="sm"/>
            <a:tailEnd type="none" len="sm" w="sm"/>
          </a:ln>
        </p:spPr>
      </p:sp>
      <p:sp>
        <p:nvSpPr>
          <p:cNvPr name="Freeform 10" id="10"/>
          <p:cNvSpPr/>
          <p:nvPr/>
        </p:nvSpPr>
        <p:spPr>
          <a:xfrm flipH="false" flipV="false" rot="0">
            <a:off x="664221" y="608194"/>
            <a:ext cx="2599560" cy="2599560"/>
          </a:xfrm>
          <a:custGeom>
            <a:avLst/>
            <a:gdLst/>
            <a:ahLst/>
            <a:cxnLst/>
            <a:rect r="r" b="b" t="t" l="l"/>
            <a:pathLst>
              <a:path h="2599560" w="2599560">
                <a:moveTo>
                  <a:pt x="0" y="0"/>
                </a:moveTo>
                <a:lnTo>
                  <a:pt x="2599560" y="0"/>
                </a:lnTo>
                <a:lnTo>
                  <a:pt x="2599560" y="2599560"/>
                </a:lnTo>
                <a:lnTo>
                  <a:pt x="0" y="2599560"/>
                </a:lnTo>
                <a:lnTo>
                  <a:pt x="0" y="0"/>
                </a:lnTo>
                <a:close/>
              </a:path>
            </a:pathLst>
          </a:custGeom>
          <a:blipFill>
            <a:blip r:embed="rId4"/>
            <a:stretch>
              <a:fillRect l="0" t="0" r="0" b="0"/>
            </a:stretch>
          </a:blipFill>
        </p:spPr>
      </p:sp>
      <p:sp>
        <p:nvSpPr>
          <p:cNvPr name="TextBox 11" id="11"/>
          <p:cNvSpPr txBox="true"/>
          <p:nvPr/>
        </p:nvSpPr>
        <p:spPr>
          <a:xfrm rot="0">
            <a:off x="5942921" y="627244"/>
            <a:ext cx="6402157" cy="320101"/>
          </a:xfrm>
          <a:prstGeom prst="rect">
            <a:avLst/>
          </a:prstGeom>
        </p:spPr>
        <p:txBody>
          <a:bodyPr anchor="t" rtlCol="false" tIns="0" lIns="0" bIns="0" rIns="0">
            <a:spAutoFit/>
          </a:bodyPr>
          <a:lstStyle/>
          <a:p>
            <a:pPr algn="l">
              <a:lnSpc>
                <a:spcPts val="2683"/>
              </a:lnSpc>
              <a:spcBef>
                <a:spcPct val="0"/>
              </a:spcBef>
            </a:pPr>
            <a:r>
              <a:rPr lang="en-US" b="true" sz="2273">
                <a:solidFill>
                  <a:srgbClr val="1C2011"/>
                </a:solidFill>
                <a:latin typeface="Gordita Bold"/>
                <a:ea typeface="Gordita Bold"/>
                <a:cs typeface="Gordita Bold"/>
                <a:sym typeface="Gordita Bold"/>
              </a:rPr>
              <a:t>School of Computer and System Sciences</a:t>
            </a:r>
          </a:p>
        </p:txBody>
      </p:sp>
      <p:sp>
        <p:nvSpPr>
          <p:cNvPr name="TextBox 12" id="12"/>
          <p:cNvSpPr txBox="true"/>
          <p:nvPr/>
        </p:nvSpPr>
        <p:spPr>
          <a:xfrm rot="0">
            <a:off x="7726976" y="8508054"/>
            <a:ext cx="3016871" cy="432503"/>
          </a:xfrm>
          <a:prstGeom prst="rect">
            <a:avLst/>
          </a:prstGeom>
        </p:spPr>
        <p:txBody>
          <a:bodyPr anchor="t" rtlCol="false" tIns="0" lIns="0" bIns="0" rIns="0">
            <a:spAutoFit/>
          </a:bodyPr>
          <a:lstStyle/>
          <a:p>
            <a:pPr algn="ctr" marL="0" indent="0" lvl="0">
              <a:lnSpc>
                <a:spcPts val="3461"/>
              </a:lnSpc>
            </a:pPr>
            <a:r>
              <a:rPr lang="en-US" sz="2472">
                <a:solidFill>
                  <a:srgbClr val="011A3C"/>
                </a:solidFill>
                <a:latin typeface="Nunito"/>
                <a:ea typeface="Nunito"/>
                <a:cs typeface="Nunito"/>
                <a:sym typeface="Nunito"/>
              </a:rPr>
              <a:t>Faculty:</a:t>
            </a:r>
          </a:p>
        </p:txBody>
      </p:sp>
      <p:sp>
        <p:nvSpPr>
          <p:cNvPr name="TextBox 13" id="13"/>
          <p:cNvSpPr txBox="true"/>
          <p:nvPr/>
        </p:nvSpPr>
        <p:spPr>
          <a:xfrm rot="0">
            <a:off x="7466030" y="8998977"/>
            <a:ext cx="3538762" cy="466696"/>
          </a:xfrm>
          <a:prstGeom prst="rect">
            <a:avLst/>
          </a:prstGeom>
        </p:spPr>
        <p:txBody>
          <a:bodyPr anchor="t" rtlCol="false" tIns="0" lIns="0" bIns="0" rIns="0">
            <a:spAutoFit/>
          </a:bodyPr>
          <a:lstStyle/>
          <a:p>
            <a:pPr algn="ctr" marL="0" indent="0" lvl="0">
              <a:lnSpc>
                <a:spcPts val="3676"/>
              </a:lnSpc>
            </a:pPr>
            <a:r>
              <a:rPr lang="en-US" b="true" sz="2626">
                <a:solidFill>
                  <a:srgbClr val="011A3C"/>
                </a:solidFill>
                <a:latin typeface="Poppins Medium"/>
                <a:ea typeface="Poppins Medium"/>
                <a:cs typeface="Poppins Medium"/>
                <a:sym typeface="Poppins Medium"/>
              </a:rPr>
              <a:t>Poonguzhali N</a:t>
            </a:r>
          </a:p>
        </p:txBody>
      </p:sp>
      <p:sp>
        <p:nvSpPr>
          <p:cNvPr name="Freeform 14" id="14"/>
          <p:cNvSpPr/>
          <p:nvPr/>
        </p:nvSpPr>
        <p:spPr>
          <a:xfrm flipH="false" flipV="false" rot="0">
            <a:off x="664221" y="4866540"/>
            <a:ext cx="4364916" cy="6187381"/>
          </a:xfrm>
          <a:custGeom>
            <a:avLst/>
            <a:gdLst/>
            <a:ahLst/>
            <a:cxnLst/>
            <a:rect r="r" b="b" t="t" l="l"/>
            <a:pathLst>
              <a:path h="6187381" w="4364916">
                <a:moveTo>
                  <a:pt x="0" y="0"/>
                </a:moveTo>
                <a:lnTo>
                  <a:pt x="4364916" y="0"/>
                </a:lnTo>
                <a:lnTo>
                  <a:pt x="4364916" y="6187381"/>
                </a:lnTo>
                <a:lnTo>
                  <a:pt x="0" y="61873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AF4"/>
        </a:solidFill>
      </p:bgPr>
    </p:bg>
    <p:spTree>
      <p:nvGrpSpPr>
        <p:cNvPr id="1" name=""/>
        <p:cNvGrpSpPr/>
        <p:nvPr/>
      </p:nvGrpSpPr>
      <p:grpSpPr>
        <a:xfrm>
          <a:off x="0" y="0"/>
          <a:ext cx="0" cy="0"/>
          <a:chOff x="0" y="0"/>
          <a:chExt cx="0" cy="0"/>
        </a:xfrm>
      </p:grpSpPr>
      <p:sp>
        <p:nvSpPr>
          <p:cNvPr name="Freeform 2" id="2"/>
          <p:cNvSpPr/>
          <p:nvPr/>
        </p:nvSpPr>
        <p:spPr>
          <a:xfrm flipH="false" flipV="false" rot="0">
            <a:off x="13272354" y="-872368"/>
            <a:ext cx="2258399" cy="2258399"/>
          </a:xfrm>
          <a:custGeom>
            <a:avLst/>
            <a:gdLst/>
            <a:ahLst/>
            <a:cxnLst/>
            <a:rect r="r" b="b" t="t" l="l"/>
            <a:pathLst>
              <a:path h="2258399" w="2258399">
                <a:moveTo>
                  <a:pt x="0" y="0"/>
                </a:moveTo>
                <a:lnTo>
                  <a:pt x="2258399" y="0"/>
                </a:lnTo>
                <a:lnTo>
                  <a:pt x="2258399" y="2258399"/>
                </a:lnTo>
                <a:lnTo>
                  <a:pt x="0" y="2258399"/>
                </a:lnTo>
                <a:lnTo>
                  <a:pt x="0" y="0"/>
                </a:lnTo>
                <a:close/>
              </a:path>
            </a:pathLst>
          </a:custGeom>
          <a:blipFill>
            <a:blip r:embed="rId2"/>
            <a:stretch>
              <a:fillRect l="0" t="0" r="0" b="0"/>
            </a:stretch>
          </a:blipFill>
          <a:ln cap="sq">
            <a:noFill/>
            <a:prstDash val="solid"/>
            <a:miter/>
          </a:ln>
        </p:spPr>
      </p:sp>
      <p:sp>
        <p:nvSpPr>
          <p:cNvPr name="Freeform 3" id="3"/>
          <p:cNvSpPr/>
          <p:nvPr/>
        </p:nvSpPr>
        <p:spPr>
          <a:xfrm flipH="false" flipV="false" rot="0">
            <a:off x="840973" y="256831"/>
            <a:ext cx="2783644" cy="522207"/>
          </a:xfrm>
          <a:custGeom>
            <a:avLst/>
            <a:gdLst/>
            <a:ahLst/>
            <a:cxnLst/>
            <a:rect r="r" b="b" t="t" l="l"/>
            <a:pathLst>
              <a:path h="522207" w="2783644">
                <a:moveTo>
                  <a:pt x="0" y="0"/>
                </a:moveTo>
                <a:lnTo>
                  <a:pt x="2783644" y="0"/>
                </a:lnTo>
                <a:lnTo>
                  <a:pt x="2783644" y="522207"/>
                </a:lnTo>
                <a:lnTo>
                  <a:pt x="0" y="522207"/>
                </a:lnTo>
                <a:lnTo>
                  <a:pt x="0" y="0"/>
                </a:lnTo>
                <a:close/>
              </a:path>
            </a:pathLst>
          </a:custGeom>
          <a:blipFill>
            <a:blip r:embed="rId3"/>
            <a:stretch>
              <a:fillRect l="-59695" t="0" r="-56015" b="-1012486"/>
            </a:stretch>
          </a:blipFill>
        </p:spPr>
      </p:sp>
      <p:grpSp>
        <p:nvGrpSpPr>
          <p:cNvPr name="Group 4" id="4"/>
          <p:cNvGrpSpPr/>
          <p:nvPr/>
        </p:nvGrpSpPr>
        <p:grpSpPr>
          <a:xfrm rot="0">
            <a:off x="5583025" y="3443930"/>
            <a:ext cx="17637058" cy="7863622"/>
            <a:chOff x="0" y="0"/>
            <a:chExt cx="4645151" cy="2071077"/>
          </a:xfrm>
        </p:grpSpPr>
        <p:sp>
          <p:nvSpPr>
            <p:cNvPr name="Freeform 5" id="5"/>
            <p:cNvSpPr/>
            <p:nvPr/>
          </p:nvSpPr>
          <p:spPr>
            <a:xfrm flipH="false" flipV="false" rot="0">
              <a:off x="0" y="0"/>
              <a:ext cx="4645151" cy="2071077"/>
            </a:xfrm>
            <a:custGeom>
              <a:avLst/>
              <a:gdLst/>
              <a:ahLst/>
              <a:cxnLst/>
              <a:rect r="r" b="b" t="t" l="l"/>
              <a:pathLst>
                <a:path h="2071077" w="4645151">
                  <a:moveTo>
                    <a:pt x="43896" y="0"/>
                  </a:moveTo>
                  <a:lnTo>
                    <a:pt x="4601255" y="0"/>
                  </a:lnTo>
                  <a:cubicBezTo>
                    <a:pt x="4625498" y="0"/>
                    <a:pt x="4645151" y="19653"/>
                    <a:pt x="4645151" y="43896"/>
                  </a:cubicBezTo>
                  <a:lnTo>
                    <a:pt x="4645151" y="2027182"/>
                  </a:lnTo>
                  <a:cubicBezTo>
                    <a:pt x="4645151" y="2051425"/>
                    <a:pt x="4625498" y="2071077"/>
                    <a:pt x="4601255" y="2071077"/>
                  </a:cubicBezTo>
                  <a:lnTo>
                    <a:pt x="43896" y="2071077"/>
                  </a:lnTo>
                  <a:cubicBezTo>
                    <a:pt x="19653" y="2071077"/>
                    <a:pt x="0" y="2051425"/>
                    <a:pt x="0" y="2027182"/>
                  </a:cubicBezTo>
                  <a:lnTo>
                    <a:pt x="0" y="43896"/>
                  </a:lnTo>
                  <a:cubicBezTo>
                    <a:pt x="0" y="19653"/>
                    <a:pt x="19653" y="0"/>
                    <a:pt x="43896" y="0"/>
                  </a:cubicBezTo>
                  <a:close/>
                </a:path>
              </a:pathLst>
            </a:custGeom>
            <a:solidFill>
              <a:srgbClr val="8EAEF1"/>
            </a:solidFill>
          </p:spPr>
        </p:sp>
        <p:sp>
          <p:nvSpPr>
            <p:cNvPr name="TextBox 6" id="6"/>
            <p:cNvSpPr txBox="true"/>
            <p:nvPr/>
          </p:nvSpPr>
          <p:spPr>
            <a:xfrm>
              <a:off x="0" y="-19050"/>
              <a:ext cx="4645151" cy="2090127"/>
            </a:xfrm>
            <a:prstGeom prst="rect">
              <a:avLst/>
            </a:prstGeom>
          </p:spPr>
          <p:txBody>
            <a:bodyPr anchor="ctr" rtlCol="false" tIns="50800" lIns="50800" bIns="50800" rIns="50800"/>
            <a:lstStyle/>
            <a:p>
              <a:pPr algn="ctr">
                <a:lnSpc>
                  <a:spcPts val="3137"/>
                </a:lnSpc>
              </a:pPr>
            </a:p>
          </p:txBody>
        </p:sp>
      </p:grpSp>
      <p:sp>
        <p:nvSpPr>
          <p:cNvPr name="Freeform 7" id="7"/>
          <p:cNvSpPr/>
          <p:nvPr/>
        </p:nvSpPr>
        <p:spPr>
          <a:xfrm flipH="false" flipV="false" rot="0">
            <a:off x="15268131" y="9541258"/>
            <a:ext cx="2783644" cy="522207"/>
          </a:xfrm>
          <a:custGeom>
            <a:avLst/>
            <a:gdLst/>
            <a:ahLst/>
            <a:cxnLst/>
            <a:rect r="r" b="b" t="t" l="l"/>
            <a:pathLst>
              <a:path h="522207" w="2783644">
                <a:moveTo>
                  <a:pt x="0" y="0"/>
                </a:moveTo>
                <a:lnTo>
                  <a:pt x="2783644" y="0"/>
                </a:lnTo>
                <a:lnTo>
                  <a:pt x="2783644" y="522207"/>
                </a:lnTo>
                <a:lnTo>
                  <a:pt x="0" y="522207"/>
                </a:lnTo>
                <a:lnTo>
                  <a:pt x="0" y="0"/>
                </a:lnTo>
                <a:close/>
              </a:path>
            </a:pathLst>
          </a:custGeom>
          <a:blipFill>
            <a:blip r:embed="rId3"/>
            <a:stretch>
              <a:fillRect l="-59695" t="0" r="-56015" b="-1012486"/>
            </a:stretch>
          </a:blipFill>
        </p:spPr>
      </p:sp>
      <p:sp>
        <p:nvSpPr>
          <p:cNvPr name="Freeform 8" id="8"/>
          <p:cNvSpPr/>
          <p:nvPr/>
        </p:nvSpPr>
        <p:spPr>
          <a:xfrm flipH="false" flipV="false" rot="-5400000">
            <a:off x="14478160" y="468306"/>
            <a:ext cx="5112266" cy="450015"/>
          </a:xfrm>
          <a:custGeom>
            <a:avLst/>
            <a:gdLst/>
            <a:ahLst/>
            <a:cxnLst/>
            <a:rect r="r" b="b" t="t" l="l"/>
            <a:pathLst>
              <a:path h="450015" w="5112266">
                <a:moveTo>
                  <a:pt x="0" y="0"/>
                </a:moveTo>
                <a:lnTo>
                  <a:pt x="5112266" y="0"/>
                </a:lnTo>
                <a:lnTo>
                  <a:pt x="5112266" y="450015"/>
                </a:lnTo>
                <a:lnTo>
                  <a:pt x="0" y="450015"/>
                </a:lnTo>
                <a:lnTo>
                  <a:pt x="0" y="0"/>
                </a:lnTo>
                <a:close/>
              </a:path>
            </a:pathLst>
          </a:custGeom>
          <a:blipFill>
            <a:blip r:embed="rId4"/>
            <a:stretch>
              <a:fillRect l="0" t="0" r="0" b="-905379"/>
            </a:stretch>
          </a:blipFill>
          <a:ln cap="sq">
            <a:noFill/>
            <a:prstDash val="solid"/>
            <a:miter/>
          </a:ln>
        </p:spPr>
      </p:sp>
      <p:sp>
        <p:nvSpPr>
          <p:cNvPr name="Freeform 9" id="9"/>
          <p:cNvSpPr/>
          <p:nvPr/>
        </p:nvSpPr>
        <p:spPr>
          <a:xfrm flipH="false" flipV="false" rot="0">
            <a:off x="0" y="3043460"/>
            <a:ext cx="4157566" cy="400470"/>
          </a:xfrm>
          <a:custGeom>
            <a:avLst/>
            <a:gdLst/>
            <a:ahLst/>
            <a:cxnLst/>
            <a:rect r="r" b="b" t="t" l="l"/>
            <a:pathLst>
              <a:path h="400470" w="4157566">
                <a:moveTo>
                  <a:pt x="0" y="0"/>
                </a:moveTo>
                <a:lnTo>
                  <a:pt x="4157566" y="0"/>
                </a:lnTo>
                <a:lnTo>
                  <a:pt x="4157566" y="400470"/>
                </a:lnTo>
                <a:lnTo>
                  <a:pt x="0" y="400470"/>
                </a:lnTo>
                <a:lnTo>
                  <a:pt x="0" y="0"/>
                </a:lnTo>
                <a:close/>
              </a:path>
            </a:pathLst>
          </a:custGeom>
          <a:blipFill>
            <a:blip r:embed="rId5"/>
            <a:stretch>
              <a:fillRect l="0" t="0" r="0" b="-818782"/>
            </a:stretch>
          </a:blipFill>
          <a:ln cap="sq">
            <a:noFill/>
            <a:prstDash val="solid"/>
            <a:miter/>
          </a:ln>
        </p:spPr>
      </p:sp>
      <p:sp>
        <p:nvSpPr>
          <p:cNvPr name="Freeform 10" id="10"/>
          <p:cNvSpPr/>
          <p:nvPr/>
        </p:nvSpPr>
        <p:spPr>
          <a:xfrm flipH="false" flipV="false" rot="0">
            <a:off x="840973" y="4421001"/>
            <a:ext cx="4327184" cy="4837299"/>
          </a:xfrm>
          <a:custGeom>
            <a:avLst/>
            <a:gdLst/>
            <a:ahLst/>
            <a:cxnLst/>
            <a:rect r="r" b="b" t="t" l="l"/>
            <a:pathLst>
              <a:path h="4837299" w="4327184">
                <a:moveTo>
                  <a:pt x="0" y="0"/>
                </a:moveTo>
                <a:lnTo>
                  <a:pt x="4327184" y="0"/>
                </a:lnTo>
                <a:lnTo>
                  <a:pt x="4327184" y="4837299"/>
                </a:lnTo>
                <a:lnTo>
                  <a:pt x="0" y="483729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980109" y="7258050"/>
            <a:ext cx="4125113" cy="4114800"/>
          </a:xfrm>
          <a:custGeom>
            <a:avLst/>
            <a:gdLst/>
            <a:ahLst/>
            <a:cxnLst/>
            <a:rect r="r" b="b" t="t" l="l"/>
            <a:pathLst>
              <a:path h="4114800" w="4125113">
                <a:moveTo>
                  <a:pt x="0" y="0"/>
                </a:moveTo>
                <a:lnTo>
                  <a:pt x="4125113" y="0"/>
                </a:lnTo>
                <a:lnTo>
                  <a:pt x="4125113"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2" id="12"/>
          <p:cNvSpPr txBox="true"/>
          <p:nvPr/>
        </p:nvSpPr>
        <p:spPr>
          <a:xfrm rot="0">
            <a:off x="1782099" y="1690226"/>
            <a:ext cx="11516986" cy="1320061"/>
          </a:xfrm>
          <a:prstGeom prst="rect">
            <a:avLst/>
          </a:prstGeom>
        </p:spPr>
        <p:txBody>
          <a:bodyPr anchor="t" rtlCol="false" tIns="0" lIns="0" bIns="0" rIns="0">
            <a:spAutoFit/>
          </a:bodyPr>
          <a:lstStyle/>
          <a:p>
            <a:pPr algn="l">
              <a:lnSpc>
                <a:spcPts val="10438"/>
              </a:lnSpc>
              <a:spcBef>
                <a:spcPct val="0"/>
              </a:spcBef>
            </a:pPr>
            <a:r>
              <a:rPr lang="en-US" b="true" sz="8846">
                <a:solidFill>
                  <a:srgbClr val="1C2011"/>
                </a:solidFill>
                <a:latin typeface="Gordita Bold"/>
                <a:ea typeface="Gordita Bold"/>
                <a:cs typeface="Gordita Bold"/>
                <a:sym typeface="Gordita Bold"/>
              </a:rPr>
              <a:t>Problem Statement</a:t>
            </a:r>
          </a:p>
        </p:txBody>
      </p:sp>
      <p:sp>
        <p:nvSpPr>
          <p:cNvPr name="TextBox 13" id="13"/>
          <p:cNvSpPr txBox="true"/>
          <p:nvPr/>
        </p:nvSpPr>
        <p:spPr>
          <a:xfrm rot="0">
            <a:off x="6222928" y="4084076"/>
            <a:ext cx="10437025" cy="4065092"/>
          </a:xfrm>
          <a:prstGeom prst="rect">
            <a:avLst/>
          </a:prstGeom>
        </p:spPr>
        <p:txBody>
          <a:bodyPr anchor="t" rtlCol="false" tIns="0" lIns="0" bIns="0" rIns="0">
            <a:spAutoFit/>
          </a:bodyPr>
          <a:lstStyle/>
          <a:p>
            <a:pPr algn="just">
              <a:lnSpc>
                <a:spcPts val="4674"/>
              </a:lnSpc>
            </a:pPr>
            <a:r>
              <a:rPr lang="en-US" sz="2885">
                <a:solidFill>
                  <a:srgbClr val="1C2011"/>
                </a:solidFill>
                <a:latin typeface="Gordita"/>
                <a:ea typeface="Gordita"/>
                <a:cs typeface="Gordita"/>
                <a:sym typeface="Gordita"/>
              </a:rPr>
              <a:t>Traditional appointment booking systems rely heavily on manual processes like phone calls or in-person visits, where calls may go unanswered, appointments may not be recorded properly, and availability is unclear. This creates inconvenience for users, delays in scheduling, and highlights the need for a reliable, digital system that ensures accurate, real-time appointment management.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AF4"/>
        </a:solidFill>
      </p:bgPr>
    </p:bg>
    <p:spTree>
      <p:nvGrpSpPr>
        <p:cNvPr id="1" name=""/>
        <p:cNvGrpSpPr/>
        <p:nvPr/>
      </p:nvGrpSpPr>
      <p:grpSpPr>
        <a:xfrm>
          <a:off x="0" y="0"/>
          <a:ext cx="0" cy="0"/>
          <a:chOff x="0" y="0"/>
          <a:chExt cx="0" cy="0"/>
        </a:xfrm>
      </p:grpSpPr>
      <p:grpSp>
        <p:nvGrpSpPr>
          <p:cNvPr name="Group 2" id="2"/>
          <p:cNvGrpSpPr/>
          <p:nvPr/>
        </p:nvGrpSpPr>
        <p:grpSpPr>
          <a:xfrm rot="0">
            <a:off x="-1252309" y="-1365153"/>
            <a:ext cx="18984835" cy="4866452"/>
            <a:chOff x="0" y="0"/>
            <a:chExt cx="5000121" cy="1281699"/>
          </a:xfrm>
        </p:grpSpPr>
        <p:sp>
          <p:nvSpPr>
            <p:cNvPr name="Freeform 3" id="3"/>
            <p:cNvSpPr/>
            <p:nvPr/>
          </p:nvSpPr>
          <p:spPr>
            <a:xfrm flipH="false" flipV="false" rot="0">
              <a:off x="0" y="0"/>
              <a:ext cx="5000121" cy="1281699"/>
            </a:xfrm>
            <a:custGeom>
              <a:avLst/>
              <a:gdLst/>
              <a:ahLst/>
              <a:cxnLst/>
              <a:rect r="r" b="b" t="t" l="l"/>
              <a:pathLst>
                <a:path h="1281699" w="5000121">
                  <a:moveTo>
                    <a:pt x="40779" y="0"/>
                  </a:moveTo>
                  <a:lnTo>
                    <a:pt x="4959342" y="0"/>
                  </a:lnTo>
                  <a:cubicBezTo>
                    <a:pt x="4970157" y="0"/>
                    <a:pt x="4980529" y="4296"/>
                    <a:pt x="4988177" y="11944"/>
                  </a:cubicBezTo>
                  <a:cubicBezTo>
                    <a:pt x="4995825" y="19592"/>
                    <a:pt x="5000121" y="29964"/>
                    <a:pt x="5000121" y="40779"/>
                  </a:cubicBezTo>
                  <a:lnTo>
                    <a:pt x="5000121" y="1240920"/>
                  </a:lnTo>
                  <a:cubicBezTo>
                    <a:pt x="5000121" y="1263442"/>
                    <a:pt x="4981864" y="1281699"/>
                    <a:pt x="4959342" y="1281699"/>
                  </a:cubicBezTo>
                  <a:lnTo>
                    <a:pt x="40779" y="1281699"/>
                  </a:lnTo>
                  <a:cubicBezTo>
                    <a:pt x="18258" y="1281699"/>
                    <a:pt x="0" y="1263442"/>
                    <a:pt x="0" y="1240920"/>
                  </a:cubicBezTo>
                  <a:lnTo>
                    <a:pt x="0" y="40779"/>
                  </a:lnTo>
                  <a:cubicBezTo>
                    <a:pt x="0" y="18258"/>
                    <a:pt x="18258" y="0"/>
                    <a:pt x="40779" y="0"/>
                  </a:cubicBezTo>
                  <a:close/>
                </a:path>
              </a:pathLst>
            </a:custGeom>
            <a:solidFill>
              <a:srgbClr val="8EAEF1"/>
            </a:solidFill>
          </p:spPr>
        </p:sp>
        <p:sp>
          <p:nvSpPr>
            <p:cNvPr name="TextBox 4" id="4"/>
            <p:cNvSpPr txBox="true"/>
            <p:nvPr/>
          </p:nvSpPr>
          <p:spPr>
            <a:xfrm>
              <a:off x="0" y="-19050"/>
              <a:ext cx="5000121" cy="1300749"/>
            </a:xfrm>
            <a:prstGeom prst="rect">
              <a:avLst/>
            </a:prstGeom>
          </p:spPr>
          <p:txBody>
            <a:bodyPr anchor="ctr" rtlCol="false" tIns="50800" lIns="50800" bIns="50800" rIns="50800"/>
            <a:lstStyle/>
            <a:p>
              <a:pPr algn="ctr">
                <a:lnSpc>
                  <a:spcPts val="3137"/>
                </a:lnSpc>
              </a:pPr>
            </a:p>
          </p:txBody>
        </p:sp>
      </p:grpSp>
      <p:sp>
        <p:nvSpPr>
          <p:cNvPr name="Freeform 5" id="5"/>
          <p:cNvSpPr/>
          <p:nvPr/>
        </p:nvSpPr>
        <p:spPr>
          <a:xfrm flipH="false" flipV="false" rot="0">
            <a:off x="465542" y="9473881"/>
            <a:ext cx="3129661" cy="1177535"/>
          </a:xfrm>
          <a:custGeom>
            <a:avLst/>
            <a:gdLst/>
            <a:ahLst/>
            <a:cxnLst/>
            <a:rect r="r" b="b" t="t" l="l"/>
            <a:pathLst>
              <a:path h="1177535" w="3129661">
                <a:moveTo>
                  <a:pt x="0" y="0"/>
                </a:moveTo>
                <a:lnTo>
                  <a:pt x="3129661" y="0"/>
                </a:lnTo>
                <a:lnTo>
                  <a:pt x="3129661" y="1177535"/>
                </a:lnTo>
                <a:lnTo>
                  <a:pt x="0" y="1177535"/>
                </a:lnTo>
                <a:lnTo>
                  <a:pt x="0" y="0"/>
                </a:lnTo>
                <a:close/>
              </a:path>
            </a:pathLst>
          </a:custGeom>
          <a:blipFill>
            <a:blip r:embed="rId2"/>
            <a:stretch>
              <a:fillRect l="0" t="0" r="0" b="0"/>
            </a:stretch>
          </a:blipFill>
          <a:ln cap="sq">
            <a:noFill/>
            <a:prstDash val="solid"/>
            <a:miter/>
          </a:ln>
        </p:spPr>
      </p:sp>
      <p:sp>
        <p:nvSpPr>
          <p:cNvPr name="Freeform 6" id="6"/>
          <p:cNvSpPr/>
          <p:nvPr/>
        </p:nvSpPr>
        <p:spPr>
          <a:xfrm flipH="false" flipV="false" rot="0">
            <a:off x="13305873" y="1171364"/>
            <a:ext cx="5112266" cy="492429"/>
          </a:xfrm>
          <a:custGeom>
            <a:avLst/>
            <a:gdLst/>
            <a:ahLst/>
            <a:cxnLst/>
            <a:rect r="r" b="b" t="t" l="l"/>
            <a:pathLst>
              <a:path h="492429" w="5112266">
                <a:moveTo>
                  <a:pt x="0" y="0"/>
                </a:moveTo>
                <a:lnTo>
                  <a:pt x="5112266" y="0"/>
                </a:lnTo>
                <a:lnTo>
                  <a:pt x="5112266" y="492429"/>
                </a:lnTo>
                <a:lnTo>
                  <a:pt x="0" y="492429"/>
                </a:lnTo>
                <a:lnTo>
                  <a:pt x="0" y="0"/>
                </a:lnTo>
                <a:close/>
              </a:path>
            </a:pathLst>
          </a:custGeom>
          <a:blipFill>
            <a:blip r:embed="rId3"/>
            <a:stretch>
              <a:fillRect l="0" t="0" r="0" b="-818782"/>
            </a:stretch>
          </a:blipFill>
          <a:ln cap="sq">
            <a:noFill/>
            <a:prstDash val="solid"/>
            <a:miter/>
          </a:ln>
        </p:spPr>
      </p:sp>
      <p:sp>
        <p:nvSpPr>
          <p:cNvPr name="Freeform 7" id="7"/>
          <p:cNvSpPr/>
          <p:nvPr/>
        </p:nvSpPr>
        <p:spPr>
          <a:xfrm flipH="false" flipV="false" rot="0">
            <a:off x="17023236" y="8102669"/>
            <a:ext cx="1119188" cy="1959979"/>
          </a:xfrm>
          <a:custGeom>
            <a:avLst/>
            <a:gdLst/>
            <a:ahLst/>
            <a:cxnLst/>
            <a:rect r="r" b="b" t="t" l="l"/>
            <a:pathLst>
              <a:path h="1959979" w="1119188">
                <a:moveTo>
                  <a:pt x="0" y="0"/>
                </a:moveTo>
                <a:lnTo>
                  <a:pt x="1119188" y="0"/>
                </a:lnTo>
                <a:lnTo>
                  <a:pt x="1119188" y="1959979"/>
                </a:lnTo>
                <a:lnTo>
                  <a:pt x="0" y="1959979"/>
                </a:lnTo>
                <a:lnTo>
                  <a:pt x="0" y="0"/>
                </a:lnTo>
                <a:close/>
              </a:path>
            </a:pathLst>
          </a:custGeom>
          <a:blipFill>
            <a:blip r:embed="rId4"/>
            <a:stretch>
              <a:fillRect l="0" t="0" r="-119248" b="0"/>
            </a:stretch>
          </a:blipFill>
          <a:ln cap="sq">
            <a:noFill/>
            <a:prstDash val="solid"/>
            <a:miter/>
          </a:ln>
        </p:spPr>
      </p:sp>
      <p:sp>
        <p:nvSpPr>
          <p:cNvPr name="TextBox 8" id="8"/>
          <p:cNvSpPr txBox="true"/>
          <p:nvPr/>
        </p:nvSpPr>
        <p:spPr>
          <a:xfrm rot="0">
            <a:off x="1301027" y="1473179"/>
            <a:ext cx="9809209" cy="1076348"/>
          </a:xfrm>
          <a:prstGeom prst="rect">
            <a:avLst/>
          </a:prstGeom>
        </p:spPr>
        <p:txBody>
          <a:bodyPr anchor="t" rtlCol="false" tIns="0" lIns="0" bIns="0" rIns="0">
            <a:spAutoFit/>
          </a:bodyPr>
          <a:lstStyle/>
          <a:p>
            <a:pPr algn="l">
              <a:lnSpc>
                <a:spcPts val="8557"/>
              </a:lnSpc>
              <a:spcBef>
                <a:spcPct val="0"/>
              </a:spcBef>
            </a:pPr>
            <a:r>
              <a:rPr lang="en-US" b="true" sz="7252">
                <a:solidFill>
                  <a:srgbClr val="1C2011"/>
                </a:solidFill>
                <a:latin typeface="Gordita Bold"/>
                <a:ea typeface="Gordita Bold"/>
                <a:cs typeface="Gordita Bold"/>
                <a:sym typeface="Gordita Bold"/>
              </a:rPr>
              <a:t>Introduction</a:t>
            </a:r>
          </a:p>
        </p:txBody>
      </p:sp>
      <p:sp>
        <p:nvSpPr>
          <p:cNvPr name="TextBox 9" id="9"/>
          <p:cNvSpPr txBox="true"/>
          <p:nvPr/>
        </p:nvSpPr>
        <p:spPr>
          <a:xfrm rot="0">
            <a:off x="2101955" y="4571887"/>
            <a:ext cx="13207917" cy="3093968"/>
          </a:xfrm>
          <a:prstGeom prst="rect">
            <a:avLst/>
          </a:prstGeom>
        </p:spPr>
        <p:txBody>
          <a:bodyPr anchor="t" rtlCol="false" tIns="0" lIns="0" bIns="0" rIns="0">
            <a:spAutoFit/>
          </a:bodyPr>
          <a:lstStyle/>
          <a:p>
            <a:pPr algn="just">
              <a:lnSpc>
                <a:spcPts val="4076"/>
              </a:lnSpc>
              <a:spcBef>
                <a:spcPct val="0"/>
              </a:spcBef>
            </a:pPr>
            <a:r>
              <a:rPr lang="en-US" sz="3260" spc="185">
                <a:solidFill>
                  <a:srgbClr val="1C2011"/>
                </a:solidFill>
                <a:latin typeface="Public Sans"/>
                <a:ea typeface="Public Sans"/>
                <a:cs typeface="Public Sans"/>
                <a:sym typeface="Public Sans"/>
              </a:rPr>
              <a:t>The Smart Appointment Booking System solves this problem by allowing users to book appointments online easily. Users can check available time slots and book instantly, while service providers can manage their schedules properly. This system makes the process faster, more reliable, and convenient for everyone.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AF4"/>
        </a:solidFill>
      </p:bgPr>
    </p:bg>
    <p:spTree>
      <p:nvGrpSpPr>
        <p:cNvPr id="1" name=""/>
        <p:cNvGrpSpPr/>
        <p:nvPr/>
      </p:nvGrpSpPr>
      <p:grpSpPr>
        <a:xfrm>
          <a:off x="0" y="0"/>
          <a:ext cx="0" cy="0"/>
          <a:chOff x="0" y="0"/>
          <a:chExt cx="0" cy="0"/>
        </a:xfrm>
      </p:grpSpPr>
      <p:grpSp>
        <p:nvGrpSpPr>
          <p:cNvPr name="Group 2" id="2"/>
          <p:cNvGrpSpPr/>
          <p:nvPr/>
        </p:nvGrpSpPr>
        <p:grpSpPr>
          <a:xfrm rot="5400000">
            <a:off x="13566710" y="2303463"/>
            <a:ext cx="10627928" cy="5680074"/>
            <a:chOff x="0" y="0"/>
            <a:chExt cx="2799125" cy="1495987"/>
          </a:xfrm>
        </p:grpSpPr>
        <p:sp>
          <p:nvSpPr>
            <p:cNvPr name="Freeform 3" id="3"/>
            <p:cNvSpPr/>
            <p:nvPr/>
          </p:nvSpPr>
          <p:spPr>
            <a:xfrm flipH="false" flipV="false" rot="0">
              <a:off x="0" y="0"/>
              <a:ext cx="2799125" cy="1495987"/>
            </a:xfrm>
            <a:custGeom>
              <a:avLst/>
              <a:gdLst/>
              <a:ahLst/>
              <a:cxnLst/>
              <a:rect r="r" b="b" t="t" l="l"/>
              <a:pathLst>
                <a:path h="1495987" w="2799125">
                  <a:moveTo>
                    <a:pt x="72845" y="0"/>
                  </a:moveTo>
                  <a:lnTo>
                    <a:pt x="2726280" y="0"/>
                  </a:lnTo>
                  <a:cubicBezTo>
                    <a:pt x="2766511" y="0"/>
                    <a:pt x="2799125" y="32614"/>
                    <a:pt x="2799125" y="72845"/>
                  </a:cubicBezTo>
                  <a:lnTo>
                    <a:pt x="2799125" y="1423142"/>
                  </a:lnTo>
                  <a:cubicBezTo>
                    <a:pt x="2799125" y="1442461"/>
                    <a:pt x="2791450" y="1460990"/>
                    <a:pt x="2777789" y="1474651"/>
                  </a:cubicBezTo>
                  <a:cubicBezTo>
                    <a:pt x="2764128" y="1488312"/>
                    <a:pt x="2745600" y="1495987"/>
                    <a:pt x="2726280" y="1495987"/>
                  </a:cubicBezTo>
                  <a:lnTo>
                    <a:pt x="72845" y="1495987"/>
                  </a:lnTo>
                  <a:cubicBezTo>
                    <a:pt x="53525" y="1495987"/>
                    <a:pt x="34997" y="1488312"/>
                    <a:pt x="21336" y="1474651"/>
                  </a:cubicBezTo>
                  <a:cubicBezTo>
                    <a:pt x="7675" y="1460990"/>
                    <a:pt x="0" y="1442461"/>
                    <a:pt x="0" y="1423142"/>
                  </a:cubicBezTo>
                  <a:lnTo>
                    <a:pt x="0" y="72845"/>
                  </a:lnTo>
                  <a:cubicBezTo>
                    <a:pt x="0" y="53525"/>
                    <a:pt x="7675" y="34997"/>
                    <a:pt x="21336" y="21336"/>
                  </a:cubicBezTo>
                  <a:cubicBezTo>
                    <a:pt x="34997" y="7675"/>
                    <a:pt x="53525" y="0"/>
                    <a:pt x="72845" y="0"/>
                  </a:cubicBezTo>
                  <a:close/>
                </a:path>
              </a:pathLst>
            </a:custGeom>
            <a:solidFill>
              <a:srgbClr val="8EAEF1"/>
            </a:solidFill>
          </p:spPr>
        </p:sp>
        <p:sp>
          <p:nvSpPr>
            <p:cNvPr name="TextBox 4" id="4"/>
            <p:cNvSpPr txBox="true"/>
            <p:nvPr/>
          </p:nvSpPr>
          <p:spPr>
            <a:xfrm>
              <a:off x="0" y="-19050"/>
              <a:ext cx="2799125" cy="1515037"/>
            </a:xfrm>
            <a:prstGeom prst="rect">
              <a:avLst/>
            </a:prstGeom>
          </p:spPr>
          <p:txBody>
            <a:bodyPr anchor="ctr" rtlCol="false" tIns="50800" lIns="50800" bIns="50800" rIns="50800"/>
            <a:lstStyle/>
            <a:p>
              <a:pPr algn="ctr">
                <a:lnSpc>
                  <a:spcPts val="3137"/>
                </a:lnSpc>
              </a:pPr>
            </a:p>
          </p:txBody>
        </p:sp>
      </p:grpSp>
      <p:sp>
        <p:nvSpPr>
          <p:cNvPr name="Freeform 5" id="5"/>
          <p:cNvSpPr/>
          <p:nvPr/>
        </p:nvSpPr>
        <p:spPr>
          <a:xfrm flipH="false" flipV="false" rot="0">
            <a:off x="10750714" y="-1453281"/>
            <a:ext cx="2906563" cy="2906563"/>
          </a:xfrm>
          <a:custGeom>
            <a:avLst/>
            <a:gdLst/>
            <a:ahLst/>
            <a:cxnLst/>
            <a:rect r="r" b="b" t="t" l="l"/>
            <a:pathLst>
              <a:path h="2906563" w="2906563">
                <a:moveTo>
                  <a:pt x="0" y="0"/>
                </a:moveTo>
                <a:lnTo>
                  <a:pt x="2906563" y="0"/>
                </a:lnTo>
                <a:lnTo>
                  <a:pt x="2906563" y="2906562"/>
                </a:lnTo>
                <a:lnTo>
                  <a:pt x="0" y="2906562"/>
                </a:lnTo>
                <a:lnTo>
                  <a:pt x="0" y="0"/>
                </a:lnTo>
                <a:close/>
              </a:path>
            </a:pathLst>
          </a:custGeom>
          <a:blipFill>
            <a:blip r:embed="rId2"/>
            <a:stretch>
              <a:fillRect l="0" t="0" r="0" b="0"/>
            </a:stretch>
          </a:blipFill>
          <a:ln cap="sq">
            <a:noFill/>
            <a:prstDash val="solid"/>
            <a:miter/>
          </a:ln>
        </p:spPr>
      </p:sp>
      <p:sp>
        <p:nvSpPr>
          <p:cNvPr name="Freeform 6" id="6"/>
          <p:cNvSpPr/>
          <p:nvPr/>
        </p:nvSpPr>
        <p:spPr>
          <a:xfrm flipH="false" flipV="false" rot="-5400000">
            <a:off x="3125674" y="7505022"/>
            <a:ext cx="449432" cy="1959979"/>
          </a:xfrm>
          <a:custGeom>
            <a:avLst/>
            <a:gdLst/>
            <a:ahLst/>
            <a:cxnLst/>
            <a:rect r="r" b="b" t="t" l="l"/>
            <a:pathLst>
              <a:path h="1959979" w="449432">
                <a:moveTo>
                  <a:pt x="0" y="0"/>
                </a:moveTo>
                <a:lnTo>
                  <a:pt x="449431" y="0"/>
                </a:lnTo>
                <a:lnTo>
                  <a:pt x="449431" y="1959979"/>
                </a:lnTo>
                <a:lnTo>
                  <a:pt x="0" y="1959979"/>
                </a:lnTo>
                <a:lnTo>
                  <a:pt x="0" y="0"/>
                </a:lnTo>
                <a:close/>
              </a:path>
            </a:pathLst>
          </a:custGeom>
          <a:blipFill>
            <a:blip r:embed="rId3"/>
            <a:stretch>
              <a:fillRect l="0" t="0" r="-445980" b="0"/>
            </a:stretch>
          </a:blipFill>
          <a:ln cap="sq">
            <a:noFill/>
            <a:prstDash val="solid"/>
            <a:miter/>
          </a:ln>
        </p:spPr>
      </p:sp>
      <p:sp>
        <p:nvSpPr>
          <p:cNvPr name="TextBox 7" id="7"/>
          <p:cNvSpPr txBox="true"/>
          <p:nvPr/>
        </p:nvSpPr>
        <p:spPr>
          <a:xfrm rot="0">
            <a:off x="2370400" y="3533629"/>
            <a:ext cx="12694265" cy="3785365"/>
          </a:xfrm>
          <a:prstGeom prst="rect">
            <a:avLst/>
          </a:prstGeom>
        </p:spPr>
        <p:txBody>
          <a:bodyPr anchor="t" rtlCol="false" tIns="0" lIns="0" bIns="0" rIns="0">
            <a:spAutoFit/>
          </a:bodyPr>
          <a:lstStyle/>
          <a:p>
            <a:pPr algn="l">
              <a:lnSpc>
                <a:spcPts val="6103"/>
              </a:lnSpc>
            </a:pPr>
            <a:r>
              <a:rPr lang="en-US" sz="2799" b="true">
                <a:solidFill>
                  <a:srgbClr val="1C2011"/>
                </a:solidFill>
                <a:latin typeface="Public Sans Bold"/>
                <a:ea typeface="Public Sans Bold"/>
                <a:cs typeface="Public Sans Bold"/>
                <a:sym typeface="Public Sans Bold"/>
              </a:rPr>
              <a:t>1. To d</a:t>
            </a:r>
            <a:r>
              <a:rPr lang="en-US" sz="2799" b="true">
                <a:solidFill>
                  <a:srgbClr val="1C2011"/>
                </a:solidFill>
                <a:latin typeface="Public Sans Bold"/>
                <a:ea typeface="Public Sans Bold"/>
                <a:cs typeface="Public Sans Bold"/>
                <a:sym typeface="Public Sans Bold"/>
              </a:rPr>
              <a:t>esign an online system for appointment scheduling.</a:t>
            </a:r>
          </a:p>
          <a:p>
            <a:pPr algn="l">
              <a:lnSpc>
                <a:spcPts val="6103"/>
              </a:lnSpc>
            </a:pPr>
            <a:r>
              <a:rPr lang="en-US" sz="2799" b="true">
                <a:solidFill>
                  <a:srgbClr val="1C2011"/>
                </a:solidFill>
                <a:latin typeface="Public Sans Bold"/>
                <a:ea typeface="Public Sans Bold"/>
                <a:cs typeface="Public Sans Bold"/>
                <a:sym typeface="Public Sans Bold"/>
              </a:rPr>
              <a:t>2. To reduce manual work involved in managing appointments.</a:t>
            </a:r>
          </a:p>
          <a:p>
            <a:pPr algn="l">
              <a:lnSpc>
                <a:spcPts val="6103"/>
              </a:lnSpc>
            </a:pPr>
            <a:r>
              <a:rPr lang="en-US" sz="2799" b="true">
                <a:solidFill>
                  <a:srgbClr val="1C2011"/>
                </a:solidFill>
                <a:latin typeface="Public Sans Bold"/>
                <a:ea typeface="Public Sans Bold"/>
                <a:cs typeface="Public Sans Bold"/>
                <a:sym typeface="Public Sans Bold"/>
              </a:rPr>
              <a:t>3. To implement service oriented architecture in a web application. </a:t>
            </a:r>
          </a:p>
          <a:p>
            <a:pPr algn="l">
              <a:lnSpc>
                <a:spcPts val="6103"/>
              </a:lnSpc>
            </a:pPr>
            <a:r>
              <a:rPr lang="en-US" sz="2799" b="true">
                <a:solidFill>
                  <a:srgbClr val="1C2011"/>
                </a:solidFill>
                <a:latin typeface="Public Sans Bold"/>
                <a:ea typeface="Public Sans Bold"/>
                <a:cs typeface="Public Sans Bold"/>
                <a:sym typeface="Public Sans Bold"/>
              </a:rPr>
              <a:t>4. To provide a user friendly interface for users and providers.</a:t>
            </a:r>
          </a:p>
          <a:p>
            <a:pPr algn="l">
              <a:lnSpc>
                <a:spcPts val="6103"/>
              </a:lnSpc>
            </a:pPr>
            <a:r>
              <a:rPr lang="en-US" sz="2799" b="true">
                <a:solidFill>
                  <a:srgbClr val="1C2011"/>
                </a:solidFill>
                <a:latin typeface="Public Sans Bold"/>
                <a:ea typeface="Public Sans Bold"/>
                <a:cs typeface="Public Sans Bold"/>
                <a:sym typeface="Public Sans Bold"/>
              </a:rPr>
              <a:t>5. To improve efficiency and reduce appointment conflicts. </a:t>
            </a:r>
          </a:p>
        </p:txBody>
      </p:sp>
      <p:sp>
        <p:nvSpPr>
          <p:cNvPr name="TextBox 8" id="8"/>
          <p:cNvSpPr txBox="true"/>
          <p:nvPr/>
        </p:nvSpPr>
        <p:spPr>
          <a:xfrm rot="0">
            <a:off x="2018481" y="1256264"/>
            <a:ext cx="4571907" cy="891540"/>
          </a:xfrm>
          <a:prstGeom prst="rect">
            <a:avLst/>
          </a:prstGeom>
        </p:spPr>
        <p:txBody>
          <a:bodyPr anchor="t" rtlCol="false" tIns="0" lIns="0" bIns="0" rIns="0">
            <a:spAutoFit/>
          </a:bodyPr>
          <a:lstStyle/>
          <a:p>
            <a:pPr algn="l" marL="0" indent="0" lvl="0">
              <a:lnSpc>
                <a:spcPts val="7080"/>
              </a:lnSpc>
              <a:spcBef>
                <a:spcPct val="0"/>
              </a:spcBef>
            </a:pPr>
            <a:r>
              <a:rPr lang="en-US" b="true" sz="6000">
                <a:solidFill>
                  <a:srgbClr val="1C2011"/>
                </a:solidFill>
                <a:latin typeface="Gordita Bold"/>
                <a:ea typeface="Gordita Bold"/>
                <a:cs typeface="Gordita Bold"/>
                <a:sym typeface="Gordita Bold"/>
              </a:rPr>
              <a:t>Objectives</a:t>
            </a:r>
          </a:p>
        </p:txBody>
      </p:sp>
      <p:sp>
        <p:nvSpPr>
          <p:cNvPr name="Freeform 9" id="9"/>
          <p:cNvSpPr/>
          <p:nvPr/>
        </p:nvSpPr>
        <p:spPr>
          <a:xfrm flipH="true" flipV="false" rot="0">
            <a:off x="14346621" y="3944336"/>
            <a:ext cx="3020494" cy="6513128"/>
          </a:xfrm>
          <a:custGeom>
            <a:avLst/>
            <a:gdLst/>
            <a:ahLst/>
            <a:cxnLst/>
            <a:rect r="r" b="b" t="t" l="l"/>
            <a:pathLst>
              <a:path h="6513128" w="3020494">
                <a:moveTo>
                  <a:pt x="3020494" y="0"/>
                </a:moveTo>
                <a:lnTo>
                  <a:pt x="0" y="0"/>
                </a:lnTo>
                <a:lnTo>
                  <a:pt x="0" y="6513128"/>
                </a:lnTo>
                <a:lnTo>
                  <a:pt x="3020494" y="6513128"/>
                </a:lnTo>
                <a:lnTo>
                  <a:pt x="3020494" y="0"/>
                </a:lnTo>
                <a:close/>
              </a:path>
            </a:pathLst>
          </a:custGeom>
          <a:blipFill>
            <a:blip r:embed="rId4">
              <a:extLst>
                <a:ext uri="{96DAC541-7B7A-43D3-8B79-37D633B846F1}">
                  <asvg:svgBlip xmlns:asvg="http://schemas.microsoft.com/office/drawing/2016/SVG/main" r:embed="rId5"/>
                </a:ext>
              </a:extLst>
            </a:blip>
            <a:stretch>
              <a:fillRect l="0" t="0" r="-130285"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AF4"/>
        </a:solidFill>
      </p:bgPr>
    </p:bg>
    <p:spTree>
      <p:nvGrpSpPr>
        <p:cNvPr id="1" name=""/>
        <p:cNvGrpSpPr/>
        <p:nvPr/>
      </p:nvGrpSpPr>
      <p:grpSpPr>
        <a:xfrm>
          <a:off x="0" y="0"/>
          <a:ext cx="0" cy="0"/>
          <a:chOff x="0" y="0"/>
          <a:chExt cx="0" cy="0"/>
        </a:xfrm>
      </p:grpSpPr>
      <p:grpSp>
        <p:nvGrpSpPr>
          <p:cNvPr name="Group 2" id="2"/>
          <p:cNvGrpSpPr/>
          <p:nvPr/>
        </p:nvGrpSpPr>
        <p:grpSpPr>
          <a:xfrm rot="0">
            <a:off x="8518458" y="820585"/>
            <a:ext cx="19067455" cy="492429"/>
            <a:chOff x="0" y="0"/>
            <a:chExt cx="25423274" cy="656572"/>
          </a:xfrm>
        </p:grpSpPr>
        <p:sp>
          <p:nvSpPr>
            <p:cNvPr name="Freeform 3" id="3"/>
            <p:cNvSpPr/>
            <p:nvPr/>
          </p:nvSpPr>
          <p:spPr>
            <a:xfrm flipH="false" flipV="false" rot="0">
              <a:off x="0" y="0"/>
              <a:ext cx="6816355" cy="656572"/>
            </a:xfrm>
            <a:custGeom>
              <a:avLst/>
              <a:gdLst/>
              <a:ahLst/>
              <a:cxnLst/>
              <a:rect r="r" b="b" t="t" l="l"/>
              <a:pathLst>
                <a:path h="656572" w="6816355">
                  <a:moveTo>
                    <a:pt x="0" y="0"/>
                  </a:moveTo>
                  <a:lnTo>
                    <a:pt x="6816355" y="0"/>
                  </a:lnTo>
                  <a:lnTo>
                    <a:pt x="6816355" y="656572"/>
                  </a:lnTo>
                  <a:lnTo>
                    <a:pt x="0" y="656572"/>
                  </a:lnTo>
                  <a:lnTo>
                    <a:pt x="0" y="0"/>
                  </a:lnTo>
                  <a:close/>
                </a:path>
              </a:pathLst>
            </a:custGeom>
            <a:blipFill>
              <a:blip r:embed="rId2"/>
              <a:stretch>
                <a:fillRect l="0" t="0" r="0" b="-818782"/>
              </a:stretch>
            </a:blipFill>
            <a:ln cap="sq">
              <a:noFill/>
              <a:prstDash val="solid"/>
              <a:miter/>
            </a:ln>
          </p:spPr>
        </p:sp>
        <p:sp>
          <p:nvSpPr>
            <p:cNvPr name="Freeform 4" id="4"/>
            <p:cNvSpPr/>
            <p:nvPr/>
          </p:nvSpPr>
          <p:spPr>
            <a:xfrm flipH="false" flipV="false" rot="0">
              <a:off x="12405127" y="0"/>
              <a:ext cx="6816355" cy="656572"/>
            </a:xfrm>
            <a:custGeom>
              <a:avLst/>
              <a:gdLst/>
              <a:ahLst/>
              <a:cxnLst/>
              <a:rect r="r" b="b" t="t" l="l"/>
              <a:pathLst>
                <a:path h="656572" w="6816355">
                  <a:moveTo>
                    <a:pt x="0" y="0"/>
                  </a:moveTo>
                  <a:lnTo>
                    <a:pt x="6816355" y="0"/>
                  </a:lnTo>
                  <a:lnTo>
                    <a:pt x="6816355" y="656572"/>
                  </a:lnTo>
                  <a:lnTo>
                    <a:pt x="0" y="656572"/>
                  </a:lnTo>
                  <a:lnTo>
                    <a:pt x="0" y="0"/>
                  </a:lnTo>
                  <a:close/>
                </a:path>
              </a:pathLst>
            </a:custGeom>
            <a:blipFill>
              <a:blip r:embed="rId2"/>
              <a:stretch>
                <a:fillRect l="0" t="0" r="0" b="-818782"/>
              </a:stretch>
            </a:blipFill>
            <a:ln cap="sq">
              <a:noFill/>
              <a:prstDash val="solid"/>
              <a:miter/>
            </a:ln>
          </p:spPr>
        </p:sp>
        <p:sp>
          <p:nvSpPr>
            <p:cNvPr name="Freeform 5" id="5"/>
            <p:cNvSpPr/>
            <p:nvPr/>
          </p:nvSpPr>
          <p:spPr>
            <a:xfrm flipH="false" flipV="false" rot="0">
              <a:off x="6206848" y="0"/>
              <a:ext cx="6816355" cy="656572"/>
            </a:xfrm>
            <a:custGeom>
              <a:avLst/>
              <a:gdLst/>
              <a:ahLst/>
              <a:cxnLst/>
              <a:rect r="r" b="b" t="t" l="l"/>
              <a:pathLst>
                <a:path h="656572" w="6816355">
                  <a:moveTo>
                    <a:pt x="0" y="0"/>
                  </a:moveTo>
                  <a:lnTo>
                    <a:pt x="6816355" y="0"/>
                  </a:lnTo>
                  <a:lnTo>
                    <a:pt x="6816355" y="656572"/>
                  </a:lnTo>
                  <a:lnTo>
                    <a:pt x="0" y="656572"/>
                  </a:lnTo>
                  <a:lnTo>
                    <a:pt x="0" y="0"/>
                  </a:lnTo>
                  <a:close/>
                </a:path>
              </a:pathLst>
            </a:custGeom>
            <a:blipFill>
              <a:blip r:embed="rId2"/>
              <a:stretch>
                <a:fillRect l="0" t="0" r="0" b="-818782"/>
              </a:stretch>
            </a:blipFill>
            <a:ln cap="sq">
              <a:noFill/>
              <a:prstDash val="solid"/>
              <a:miter/>
            </a:ln>
          </p:spPr>
        </p:sp>
        <p:sp>
          <p:nvSpPr>
            <p:cNvPr name="Freeform 6" id="6"/>
            <p:cNvSpPr/>
            <p:nvPr/>
          </p:nvSpPr>
          <p:spPr>
            <a:xfrm flipH="false" flipV="false" rot="0">
              <a:off x="18606919" y="0"/>
              <a:ext cx="6816355" cy="656572"/>
            </a:xfrm>
            <a:custGeom>
              <a:avLst/>
              <a:gdLst/>
              <a:ahLst/>
              <a:cxnLst/>
              <a:rect r="r" b="b" t="t" l="l"/>
              <a:pathLst>
                <a:path h="656572" w="6816355">
                  <a:moveTo>
                    <a:pt x="0" y="0"/>
                  </a:moveTo>
                  <a:lnTo>
                    <a:pt x="6816355" y="0"/>
                  </a:lnTo>
                  <a:lnTo>
                    <a:pt x="6816355" y="656572"/>
                  </a:lnTo>
                  <a:lnTo>
                    <a:pt x="0" y="656572"/>
                  </a:lnTo>
                  <a:lnTo>
                    <a:pt x="0" y="0"/>
                  </a:lnTo>
                  <a:close/>
                </a:path>
              </a:pathLst>
            </a:custGeom>
            <a:blipFill>
              <a:blip r:embed="rId2"/>
              <a:stretch>
                <a:fillRect l="0" t="0" r="0" b="-818782"/>
              </a:stretch>
            </a:blipFill>
            <a:ln cap="sq">
              <a:noFill/>
              <a:prstDash val="solid"/>
              <a:miter/>
            </a:ln>
          </p:spPr>
        </p:sp>
      </p:grpSp>
      <p:grpSp>
        <p:nvGrpSpPr>
          <p:cNvPr name="Group 7" id="7"/>
          <p:cNvGrpSpPr/>
          <p:nvPr/>
        </p:nvGrpSpPr>
        <p:grpSpPr>
          <a:xfrm rot="0">
            <a:off x="-1017209" y="-703525"/>
            <a:ext cx="5202118" cy="2782028"/>
            <a:chOff x="0" y="0"/>
            <a:chExt cx="1370105" cy="732715"/>
          </a:xfrm>
        </p:grpSpPr>
        <p:sp>
          <p:nvSpPr>
            <p:cNvPr name="Freeform 8" id="8"/>
            <p:cNvSpPr/>
            <p:nvPr/>
          </p:nvSpPr>
          <p:spPr>
            <a:xfrm flipH="false" flipV="false" rot="0">
              <a:off x="0" y="0"/>
              <a:ext cx="1370105" cy="732715"/>
            </a:xfrm>
            <a:custGeom>
              <a:avLst/>
              <a:gdLst/>
              <a:ahLst/>
              <a:cxnLst/>
              <a:rect r="r" b="b" t="t" l="l"/>
              <a:pathLst>
                <a:path h="732715" w="1370105">
                  <a:moveTo>
                    <a:pt x="148822" y="0"/>
                  </a:moveTo>
                  <a:lnTo>
                    <a:pt x="1221283" y="0"/>
                  </a:lnTo>
                  <a:cubicBezTo>
                    <a:pt x="1260753" y="0"/>
                    <a:pt x="1298606" y="15679"/>
                    <a:pt x="1326516" y="43589"/>
                  </a:cubicBezTo>
                  <a:cubicBezTo>
                    <a:pt x="1354426" y="71499"/>
                    <a:pt x="1370105" y="109352"/>
                    <a:pt x="1370105" y="148822"/>
                  </a:cubicBezTo>
                  <a:lnTo>
                    <a:pt x="1370105" y="583893"/>
                  </a:lnTo>
                  <a:cubicBezTo>
                    <a:pt x="1370105" y="623363"/>
                    <a:pt x="1354426" y="661217"/>
                    <a:pt x="1326516" y="689126"/>
                  </a:cubicBezTo>
                  <a:cubicBezTo>
                    <a:pt x="1298606" y="717036"/>
                    <a:pt x="1260753" y="732715"/>
                    <a:pt x="1221283" y="732715"/>
                  </a:cubicBezTo>
                  <a:lnTo>
                    <a:pt x="148822" y="732715"/>
                  </a:lnTo>
                  <a:cubicBezTo>
                    <a:pt x="109352" y="732715"/>
                    <a:pt x="71499" y="717036"/>
                    <a:pt x="43589" y="689126"/>
                  </a:cubicBezTo>
                  <a:cubicBezTo>
                    <a:pt x="15679" y="661217"/>
                    <a:pt x="0" y="623363"/>
                    <a:pt x="0" y="583893"/>
                  </a:cubicBezTo>
                  <a:lnTo>
                    <a:pt x="0" y="148822"/>
                  </a:lnTo>
                  <a:cubicBezTo>
                    <a:pt x="0" y="109352"/>
                    <a:pt x="15679" y="71499"/>
                    <a:pt x="43589" y="43589"/>
                  </a:cubicBezTo>
                  <a:cubicBezTo>
                    <a:pt x="71499" y="15679"/>
                    <a:pt x="109352" y="0"/>
                    <a:pt x="148822" y="0"/>
                  </a:cubicBezTo>
                  <a:close/>
                </a:path>
              </a:pathLst>
            </a:custGeom>
            <a:solidFill>
              <a:srgbClr val="8EAEF1"/>
            </a:solidFill>
          </p:spPr>
        </p:sp>
        <p:sp>
          <p:nvSpPr>
            <p:cNvPr name="TextBox 9" id="9"/>
            <p:cNvSpPr txBox="true"/>
            <p:nvPr/>
          </p:nvSpPr>
          <p:spPr>
            <a:xfrm>
              <a:off x="0" y="-19050"/>
              <a:ext cx="1370105" cy="751765"/>
            </a:xfrm>
            <a:prstGeom prst="rect">
              <a:avLst/>
            </a:prstGeom>
          </p:spPr>
          <p:txBody>
            <a:bodyPr anchor="ctr" rtlCol="false" tIns="50800" lIns="50800" bIns="50800" rIns="50800"/>
            <a:lstStyle/>
            <a:p>
              <a:pPr algn="ctr">
                <a:lnSpc>
                  <a:spcPts val="3137"/>
                </a:lnSpc>
              </a:pPr>
            </a:p>
          </p:txBody>
        </p:sp>
      </p:grpSp>
      <p:sp>
        <p:nvSpPr>
          <p:cNvPr name="Freeform 10" id="10"/>
          <p:cNvSpPr/>
          <p:nvPr/>
        </p:nvSpPr>
        <p:spPr>
          <a:xfrm flipH="false" flipV="false" rot="0">
            <a:off x="-274310" y="687489"/>
            <a:ext cx="2783644" cy="522207"/>
          </a:xfrm>
          <a:custGeom>
            <a:avLst/>
            <a:gdLst/>
            <a:ahLst/>
            <a:cxnLst/>
            <a:rect r="r" b="b" t="t" l="l"/>
            <a:pathLst>
              <a:path h="522207" w="2783644">
                <a:moveTo>
                  <a:pt x="0" y="0"/>
                </a:moveTo>
                <a:lnTo>
                  <a:pt x="2783644" y="0"/>
                </a:lnTo>
                <a:lnTo>
                  <a:pt x="2783644" y="522207"/>
                </a:lnTo>
                <a:lnTo>
                  <a:pt x="0" y="522207"/>
                </a:lnTo>
                <a:lnTo>
                  <a:pt x="0" y="0"/>
                </a:lnTo>
                <a:close/>
              </a:path>
            </a:pathLst>
          </a:custGeom>
          <a:blipFill>
            <a:blip r:embed="rId3"/>
            <a:stretch>
              <a:fillRect l="-59695" t="0" r="-56015" b="-1012486"/>
            </a:stretch>
          </a:blipFill>
        </p:spPr>
      </p:sp>
      <p:grpSp>
        <p:nvGrpSpPr>
          <p:cNvPr name="Group 11" id="11"/>
          <p:cNvGrpSpPr/>
          <p:nvPr/>
        </p:nvGrpSpPr>
        <p:grpSpPr>
          <a:xfrm rot="0">
            <a:off x="521994" y="3760227"/>
            <a:ext cx="4592213" cy="4730722"/>
            <a:chOff x="0" y="0"/>
            <a:chExt cx="1209472" cy="1245951"/>
          </a:xfrm>
        </p:grpSpPr>
        <p:sp>
          <p:nvSpPr>
            <p:cNvPr name="Freeform 12" id="12"/>
            <p:cNvSpPr/>
            <p:nvPr/>
          </p:nvSpPr>
          <p:spPr>
            <a:xfrm flipH="false" flipV="false" rot="0">
              <a:off x="0" y="0"/>
              <a:ext cx="1209472" cy="1245951"/>
            </a:xfrm>
            <a:custGeom>
              <a:avLst/>
              <a:gdLst/>
              <a:ahLst/>
              <a:cxnLst/>
              <a:rect r="r" b="b" t="t" l="l"/>
              <a:pathLst>
                <a:path h="1245951" w="1209472">
                  <a:moveTo>
                    <a:pt x="168588" y="0"/>
                  </a:moveTo>
                  <a:lnTo>
                    <a:pt x="1040884" y="0"/>
                  </a:lnTo>
                  <a:cubicBezTo>
                    <a:pt x="1133992" y="0"/>
                    <a:pt x="1209472" y="75479"/>
                    <a:pt x="1209472" y="168588"/>
                  </a:cubicBezTo>
                  <a:lnTo>
                    <a:pt x="1209472" y="1077363"/>
                  </a:lnTo>
                  <a:cubicBezTo>
                    <a:pt x="1209472" y="1122076"/>
                    <a:pt x="1191710" y="1164957"/>
                    <a:pt x="1160093" y="1196573"/>
                  </a:cubicBezTo>
                  <a:cubicBezTo>
                    <a:pt x="1128477" y="1228189"/>
                    <a:pt x="1085596" y="1245951"/>
                    <a:pt x="1040884" y="1245951"/>
                  </a:cubicBezTo>
                  <a:lnTo>
                    <a:pt x="168588" y="1245951"/>
                  </a:lnTo>
                  <a:cubicBezTo>
                    <a:pt x="75479" y="1245951"/>
                    <a:pt x="0" y="1170472"/>
                    <a:pt x="0" y="1077363"/>
                  </a:cubicBezTo>
                  <a:lnTo>
                    <a:pt x="0" y="168588"/>
                  </a:lnTo>
                  <a:cubicBezTo>
                    <a:pt x="0" y="75479"/>
                    <a:pt x="75479" y="0"/>
                    <a:pt x="168588" y="0"/>
                  </a:cubicBezTo>
                  <a:close/>
                </a:path>
              </a:pathLst>
            </a:custGeom>
            <a:solidFill>
              <a:srgbClr val="D3E1FF"/>
            </a:solidFill>
          </p:spPr>
        </p:sp>
        <p:sp>
          <p:nvSpPr>
            <p:cNvPr name="TextBox 13" id="13"/>
            <p:cNvSpPr txBox="true"/>
            <p:nvPr/>
          </p:nvSpPr>
          <p:spPr>
            <a:xfrm>
              <a:off x="0" y="-19050"/>
              <a:ext cx="1209472" cy="1265001"/>
            </a:xfrm>
            <a:prstGeom prst="rect">
              <a:avLst/>
            </a:prstGeom>
          </p:spPr>
          <p:txBody>
            <a:bodyPr anchor="ctr" rtlCol="false" tIns="50800" lIns="50800" bIns="50800" rIns="50800"/>
            <a:lstStyle/>
            <a:p>
              <a:pPr algn="ctr">
                <a:lnSpc>
                  <a:spcPts val="3137"/>
                </a:lnSpc>
              </a:pPr>
            </a:p>
          </p:txBody>
        </p:sp>
      </p:grpSp>
      <p:sp>
        <p:nvSpPr>
          <p:cNvPr name="TextBox 14" id="14"/>
          <p:cNvSpPr txBox="true"/>
          <p:nvPr/>
        </p:nvSpPr>
        <p:spPr>
          <a:xfrm rot="0">
            <a:off x="7509071" y="1642258"/>
            <a:ext cx="10035599" cy="891540"/>
          </a:xfrm>
          <a:prstGeom prst="rect">
            <a:avLst/>
          </a:prstGeom>
        </p:spPr>
        <p:txBody>
          <a:bodyPr anchor="t" rtlCol="false" tIns="0" lIns="0" bIns="0" rIns="0">
            <a:spAutoFit/>
          </a:bodyPr>
          <a:lstStyle/>
          <a:p>
            <a:pPr algn="ctr" marL="0" indent="0" lvl="0">
              <a:lnSpc>
                <a:spcPts val="7080"/>
              </a:lnSpc>
              <a:spcBef>
                <a:spcPct val="0"/>
              </a:spcBef>
            </a:pPr>
            <a:r>
              <a:rPr lang="en-US" b="true" sz="6000">
                <a:solidFill>
                  <a:srgbClr val="1C2011"/>
                </a:solidFill>
                <a:latin typeface="Gordita Bold"/>
                <a:ea typeface="Gordita Bold"/>
                <a:cs typeface="Gordita Bold"/>
                <a:sym typeface="Gordita Bold"/>
              </a:rPr>
              <a:t>System Architecture</a:t>
            </a:r>
          </a:p>
        </p:txBody>
      </p:sp>
      <p:sp>
        <p:nvSpPr>
          <p:cNvPr name="TextBox 15" id="15"/>
          <p:cNvSpPr txBox="true"/>
          <p:nvPr/>
        </p:nvSpPr>
        <p:spPr>
          <a:xfrm rot="0">
            <a:off x="584260" y="4636893"/>
            <a:ext cx="5160801" cy="3149600"/>
          </a:xfrm>
          <a:prstGeom prst="rect">
            <a:avLst/>
          </a:prstGeom>
        </p:spPr>
        <p:txBody>
          <a:bodyPr anchor="t" rtlCol="false" tIns="0" lIns="0" bIns="0" rIns="0">
            <a:spAutoFit/>
          </a:bodyPr>
          <a:lstStyle/>
          <a:p>
            <a:pPr algn="l" marL="431799" indent="-215899" lvl="1">
              <a:lnSpc>
                <a:spcPts val="2499"/>
              </a:lnSpc>
              <a:buFont typeface="Arial"/>
              <a:buChar char="•"/>
            </a:pPr>
            <a:r>
              <a:rPr lang="en-US" b="true" sz="1999" spc="113">
                <a:solidFill>
                  <a:srgbClr val="1C2011"/>
                </a:solidFill>
                <a:latin typeface="Public Sans Bold"/>
                <a:ea typeface="Public Sans Bold"/>
                <a:cs typeface="Public Sans Bold"/>
                <a:sym typeface="Public Sans Bold"/>
              </a:rPr>
              <a:t>React.js (User Interface)</a:t>
            </a:r>
          </a:p>
          <a:p>
            <a:pPr algn="l">
              <a:lnSpc>
                <a:spcPts val="2499"/>
              </a:lnSpc>
            </a:pPr>
          </a:p>
          <a:p>
            <a:pPr algn="l" marL="431799" indent="-215899" lvl="1">
              <a:lnSpc>
                <a:spcPts val="2499"/>
              </a:lnSpc>
              <a:buFont typeface="Arial"/>
              <a:buChar char="•"/>
            </a:pPr>
            <a:r>
              <a:rPr lang="en-US" b="true" sz="1999" spc="113">
                <a:solidFill>
                  <a:srgbClr val="1C2011"/>
                </a:solidFill>
                <a:latin typeface="Public Sans Bold"/>
                <a:ea typeface="Public Sans Bold"/>
                <a:cs typeface="Public Sans Bold"/>
                <a:sym typeface="Public Sans Bold"/>
              </a:rPr>
              <a:t>Used by</a:t>
            </a:r>
            <a:r>
              <a:rPr lang="en-US" b="true" sz="1999" spc="113">
                <a:solidFill>
                  <a:srgbClr val="1C2011"/>
                </a:solidFill>
                <a:latin typeface="Public Sans Bold"/>
                <a:ea typeface="Public Sans Bold"/>
                <a:cs typeface="Public Sans Bold"/>
                <a:sym typeface="Public Sans Bold"/>
              </a:rPr>
              <a:t>:</a:t>
            </a:r>
          </a:p>
          <a:p>
            <a:pPr algn="l">
              <a:lnSpc>
                <a:spcPts val="2499"/>
              </a:lnSpc>
            </a:pPr>
            <a:r>
              <a:rPr lang="en-US" sz="1999" spc="113" b="true">
                <a:solidFill>
                  <a:srgbClr val="1C2011"/>
                </a:solidFill>
                <a:latin typeface="Public Sans Bold"/>
                <a:ea typeface="Public Sans Bold"/>
                <a:cs typeface="Public Sans Bold"/>
                <a:sym typeface="Public Sans Bold"/>
              </a:rPr>
              <a:t>         - </a:t>
            </a:r>
            <a:r>
              <a:rPr lang="en-US" sz="1999" spc="113" b="true">
                <a:solidFill>
                  <a:srgbClr val="1C2011"/>
                </a:solidFill>
                <a:latin typeface="Public Sans Bold"/>
                <a:ea typeface="Public Sans Bold"/>
                <a:cs typeface="Public Sans Bold"/>
                <a:sym typeface="Public Sans Bold"/>
              </a:rPr>
              <a:t>Users (book appointments)</a:t>
            </a:r>
          </a:p>
          <a:p>
            <a:pPr algn="l">
              <a:lnSpc>
                <a:spcPts val="2499"/>
              </a:lnSpc>
            </a:pPr>
            <a:r>
              <a:rPr lang="en-US" sz="1999" spc="113" b="true">
                <a:solidFill>
                  <a:srgbClr val="1C2011"/>
                </a:solidFill>
                <a:latin typeface="Public Sans Bold"/>
                <a:ea typeface="Public Sans Bold"/>
                <a:cs typeface="Public Sans Bold"/>
                <a:sym typeface="Public Sans Bold"/>
              </a:rPr>
              <a:t>         - </a:t>
            </a:r>
            <a:r>
              <a:rPr lang="en-US" sz="1999" spc="113" b="true">
                <a:solidFill>
                  <a:srgbClr val="1C2011"/>
                </a:solidFill>
                <a:latin typeface="Public Sans Bold"/>
                <a:ea typeface="Public Sans Bold"/>
                <a:cs typeface="Public Sans Bold"/>
                <a:sym typeface="Public Sans Bold"/>
              </a:rPr>
              <a:t>Service Providers</a:t>
            </a:r>
          </a:p>
          <a:p>
            <a:pPr algn="l">
              <a:lnSpc>
                <a:spcPts val="2499"/>
              </a:lnSpc>
            </a:pPr>
            <a:r>
              <a:rPr lang="en-US" sz="1999" spc="113" b="true">
                <a:solidFill>
                  <a:srgbClr val="1C2011"/>
                </a:solidFill>
                <a:latin typeface="Public Sans Bold"/>
                <a:ea typeface="Public Sans Bold"/>
                <a:cs typeface="Public Sans Bold"/>
                <a:sym typeface="Public Sans Bold"/>
              </a:rPr>
              <a:t>            (manage schedules)</a:t>
            </a:r>
          </a:p>
          <a:p>
            <a:pPr algn="l">
              <a:lnSpc>
                <a:spcPts val="2499"/>
              </a:lnSpc>
            </a:pPr>
          </a:p>
          <a:p>
            <a:pPr algn="l" marL="431799" indent="-215899" lvl="1">
              <a:lnSpc>
                <a:spcPts val="2499"/>
              </a:lnSpc>
              <a:buFont typeface="Arial"/>
              <a:buChar char="•"/>
            </a:pPr>
            <a:r>
              <a:rPr lang="en-US" b="true" sz="1999" spc="113">
                <a:solidFill>
                  <a:srgbClr val="1C2011"/>
                </a:solidFill>
                <a:latin typeface="Public Sans Bold"/>
                <a:ea typeface="Public Sans Bold"/>
                <a:cs typeface="Public Sans Bold"/>
                <a:sym typeface="Public Sans Bold"/>
              </a:rPr>
              <a:t>S</a:t>
            </a:r>
            <a:r>
              <a:rPr lang="en-US" b="true" sz="1999" spc="113">
                <a:solidFill>
                  <a:srgbClr val="1C2011"/>
                </a:solidFill>
                <a:latin typeface="Public Sans Bold"/>
                <a:ea typeface="Public Sans Bold"/>
                <a:cs typeface="Public Sans Bold"/>
                <a:sym typeface="Public Sans Bold"/>
              </a:rPr>
              <a:t>ends requests to backend</a:t>
            </a:r>
          </a:p>
          <a:p>
            <a:pPr algn="l">
              <a:lnSpc>
                <a:spcPts val="2499"/>
              </a:lnSpc>
            </a:pPr>
            <a:r>
              <a:rPr lang="en-US" sz="1999" spc="113" b="true">
                <a:solidFill>
                  <a:srgbClr val="1C2011"/>
                </a:solidFill>
                <a:latin typeface="Public Sans Bold"/>
                <a:ea typeface="Public Sans Bold"/>
                <a:cs typeface="Public Sans Bold"/>
                <a:sym typeface="Public Sans Bold"/>
              </a:rPr>
              <a:t>       </a:t>
            </a:r>
            <a:r>
              <a:rPr lang="en-US" sz="1999" spc="113" b="true">
                <a:solidFill>
                  <a:srgbClr val="1C2011"/>
                </a:solidFill>
                <a:latin typeface="Public Sans Bold"/>
                <a:ea typeface="Public Sans Bold"/>
                <a:cs typeface="Public Sans Bold"/>
                <a:sym typeface="Public Sans Bold"/>
              </a:rPr>
              <a:t>through API</a:t>
            </a:r>
          </a:p>
          <a:p>
            <a:pPr algn="l">
              <a:lnSpc>
                <a:spcPts val="2499"/>
              </a:lnSpc>
              <a:spcBef>
                <a:spcPct val="0"/>
              </a:spcBef>
            </a:pPr>
          </a:p>
        </p:txBody>
      </p:sp>
      <p:sp>
        <p:nvSpPr>
          <p:cNvPr name="TextBox 16" id="16"/>
          <p:cNvSpPr txBox="true"/>
          <p:nvPr/>
        </p:nvSpPr>
        <p:spPr>
          <a:xfrm rot="0">
            <a:off x="1121121" y="3151640"/>
            <a:ext cx="3393959" cy="412115"/>
          </a:xfrm>
          <a:prstGeom prst="rect">
            <a:avLst/>
          </a:prstGeom>
        </p:spPr>
        <p:txBody>
          <a:bodyPr anchor="t" rtlCol="false" tIns="0" lIns="0" bIns="0" rIns="0">
            <a:spAutoFit/>
          </a:bodyPr>
          <a:lstStyle/>
          <a:p>
            <a:pPr algn="l">
              <a:lnSpc>
                <a:spcPts val="3249"/>
              </a:lnSpc>
            </a:pPr>
            <a:r>
              <a:rPr lang="en-US" sz="2599" b="true">
                <a:solidFill>
                  <a:srgbClr val="1C2011"/>
                </a:solidFill>
                <a:latin typeface="Gordita Bold"/>
                <a:ea typeface="Gordita Bold"/>
                <a:cs typeface="Gordita Bold"/>
                <a:sym typeface="Gordita Bold"/>
              </a:rPr>
              <a:t>Presentation Layer</a:t>
            </a:r>
          </a:p>
        </p:txBody>
      </p:sp>
      <p:grpSp>
        <p:nvGrpSpPr>
          <p:cNvPr name="Group 17" id="17"/>
          <p:cNvGrpSpPr/>
          <p:nvPr/>
        </p:nvGrpSpPr>
        <p:grpSpPr>
          <a:xfrm rot="0">
            <a:off x="5735536" y="3760227"/>
            <a:ext cx="6913068" cy="4730722"/>
            <a:chOff x="0" y="0"/>
            <a:chExt cx="1820726" cy="1245951"/>
          </a:xfrm>
        </p:grpSpPr>
        <p:sp>
          <p:nvSpPr>
            <p:cNvPr name="Freeform 18" id="18"/>
            <p:cNvSpPr/>
            <p:nvPr/>
          </p:nvSpPr>
          <p:spPr>
            <a:xfrm flipH="false" flipV="false" rot="0">
              <a:off x="0" y="0"/>
              <a:ext cx="1820726" cy="1245951"/>
            </a:xfrm>
            <a:custGeom>
              <a:avLst/>
              <a:gdLst/>
              <a:ahLst/>
              <a:cxnLst/>
              <a:rect r="r" b="b" t="t" l="l"/>
              <a:pathLst>
                <a:path h="1245951" w="1820726">
                  <a:moveTo>
                    <a:pt x="111990" y="0"/>
                  </a:moveTo>
                  <a:lnTo>
                    <a:pt x="1708736" y="0"/>
                  </a:lnTo>
                  <a:cubicBezTo>
                    <a:pt x="1770586" y="0"/>
                    <a:pt x="1820726" y="50139"/>
                    <a:pt x="1820726" y="111990"/>
                  </a:cubicBezTo>
                  <a:lnTo>
                    <a:pt x="1820726" y="1133962"/>
                  </a:lnTo>
                  <a:cubicBezTo>
                    <a:pt x="1820726" y="1163663"/>
                    <a:pt x="1808927" y="1192148"/>
                    <a:pt x="1787925" y="1213150"/>
                  </a:cubicBezTo>
                  <a:cubicBezTo>
                    <a:pt x="1766923" y="1234152"/>
                    <a:pt x="1738437" y="1245951"/>
                    <a:pt x="1708736" y="1245951"/>
                  </a:cubicBezTo>
                  <a:lnTo>
                    <a:pt x="111990" y="1245951"/>
                  </a:lnTo>
                  <a:cubicBezTo>
                    <a:pt x="82288" y="1245951"/>
                    <a:pt x="53803" y="1234152"/>
                    <a:pt x="32801" y="1213150"/>
                  </a:cubicBezTo>
                  <a:cubicBezTo>
                    <a:pt x="11799" y="1192148"/>
                    <a:pt x="0" y="1163663"/>
                    <a:pt x="0" y="1133962"/>
                  </a:cubicBezTo>
                  <a:lnTo>
                    <a:pt x="0" y="111990"/>
                  </a:lnTo>
                  <a:cubicBezTo>
                    <a:pt x="0" y="82288"/>
                    <a:pt x="11799" y="53803"/>
                    <a:pt x="32801" y="32801"/>
                  </a:cubicBezTo>
                  <a:cubicBezTo>
                    <a:pt x="53803" y="11799"/>
                    <a:pt x="82288" y="0"/>
                    <a:pt x="111990" y="0"/>
                  </a:cubicBezTo>
                  <a:close/>
                </a:path>
              </a:pathLst>
            </a:custGeom>
            <a:solidFill>
              <a:srgbClr val="D3E1FF"/>
            </a:solidFill>
          </p:spPr>
        </p:sp>
        <p:sp>
          <p:nvSpPr>
            <p:cNvPr name="TextBox 19" id="19"/>
            <p:cNvSpPr txBox="true"/>
            <p:nvPr/>
          </p:nvSpPr>
          <p:spPr>
            <a:xfrm>
              <a:off x="0" y="-19050"/>
              <a:ext cx="1820726" cy="1265001"/>
            </a:xfrm>
            <a:prstGeom prst="rect">
              <a:avLst/>
            </a:prstGeom>
          </p:spPr>
          <p:txBody>
            <a:bodyPr anchor="ctr" rtlCol="false" tIns="50800" lIns="50800" bIns="50800" rIns="50800"/>
            <a:lstStyle/>
            <a:p>
              <a:pPr algn="ctr">
                <a:lnSpc>
                  <a:spcPts val="3137"/>
                </a:lnSpc>
              </a:pPr>
            </a:p>
          </p:txBody>
        </p:sp>
      </p:grpSp>
      <p:sp>
        <p:nvSpPr>
          <p:cNvPr name="TextBox 20" id="20"/>
          <p:cNvSpPr txBox="true"/>
          <p:nvPr/>
        </p:nvSpPr>
        <p:spPr>
          <a:xfrm rot="0">
            <a:off x="5974563" y="4500358"/>
            <a:ext cx="6380516" cy="2853055"/>
          </a:xfrm>
          <a:prstGeom prst="rect">
            <a:avLst/>
          </a:prstGeom>
        </p:spPr>
        <p:txBody>
          <a:bodyPr anchor="t" rtlCol="false" tIns="0" lIns="0" bIns="0" rIns="0">
            <a:spAutoFit/>
          </a:bodyPr>
          <a:lstStyle/>
          <a:p>
            <a:pPr algn="l" marL="431799" indent="-215899" lvl="1">
              <a:lnSpc>
                <a:spcPts val="3259"/>
              </a:lnSpc>
              <a:buFont typeface="Arial"/>
              <a:buChar char="•"/>
            </a:pPr>
            <a:r>
              <a:rPr lang="en-US" b="true" sz="1999" spc="113">
                <a:solidFill>
                  <a:srgbClr val="1C2011"/>
                </a:solidFill>
                <a:latin typeface="Public Sans Bold"/>
                <a:ea typeface="Public Sans Bold"/>
                <a:cs typeface="Public Sans Bold"/>
                <a:sym typeface="Public Sans Bold"/>
              </a:rPr>
              <a:t>API Gateway (main entry point)</a:t>
            </a:r>
          </a:p>
          <a:p>
            <a:pPr algn="l" marL="431799" indent="-215899" lvl="1">
              <a:lnSpc>
                <a:spcPts val="3259"/>
              </a:lnSpc>
              <a:buFont typeface="Arial"/>
              <a:buChar char="•"/>
            </a:pPr>
            <a:r>
              <a:rPr lang="en-US" b="true" sz="1999" spc="113">
                <a:solidFill>
                  <a:srgbClr val="1C2011"/>
                </a:solidFill>
                <a:latin typeface="Public Sans Bold"/>
                <a:ea typeface="Public Sans Bold"/>
                <a:cs typeface="Public Sans Bold"/>
                <a:sym typeface="Public Sans Bold"/>
              </a:rPr>
              <a:t>Authentication Service → Login &amp; security</a:t>
            </a:r>
          </a:p>
          <a:p>
            <a:pPr algn="l" marL="431799" indent="-215899" lvl="1">
              <a:lnSpc>
                <a:spcPts val="3259"/>
              </a:lnSpc>
              <a:buFont typeface="Arial"/>
              <a:buChar char="•"/>
            </a:pPr>
            <a:r>
              <a:rPr lang="en-US" b="true" sz="1999" spc="113">
                <a:solidFill>
                  <a:srgbClr val="1C2011"/>
                </a:solidFill>
                <a:latin typeface="Public Sans Bold"/>
                <a:ea typeface="Public Sans Bold"/>
                <a:cs typeface="Public Sans Bold"/>
                <a:sym typeface="Public Sans Bold"/>
              </a:rPr>
              <a:t>Provider Service → Manage doctors/services</a:t>
            </a:r>
          </a:p>
          <a:p>
            <a:pPr algn="l" marL="431799" indent="-215899" lvl="1">
              <a:lnSpc>
                <a:spcPts val="3259"/>
              </a:lnSpc>
              <a:buFont typeface="Arial"/>
              <a:buChar char="•"/>
            </a:pPr>
            <a:r>
              <a:rPr lang="en-US" b="true" sz="1999" spc="113">
                <a:solidFill>
                  <a:srgbClr val="1C2011"/>
                </a:solidFill>
                <a:latin typeface="Public Sans Bold"/>
                <a:ea typeface="Public Sans Bold"/>
                <a:cs typeface="Public Sans Bold"/>
                <a:sym typeface="Public Sans Bold"/>
              </a:rPr>
              <a:t>Booking Service → Appointment scheduling</a:t>
            </a:r>
          </a:p>
          <a:p>
            <a:pPr algn="l" marL="431799" indent="-215899" lvl="1">
              <a:lnSpc>
                <a:spcPts val="3259"/>
              </a:lnSpc>
              <a:buFont typeface="Arial"/>
              <a:buChar char="•"/>
            </a:pPr>
            <a:r>
              <a:rPr lang="en-US" b="true" sz="1999" spc="113">
                <a:solidFill>
                  <a:srgbClr val="1C2011"/>
                </a:solidFill>
                <a:latin typeface="Public Sans Bold"/>
                <a:ea typeface="Public Sans Bold"/>
                <a:cs typeface="Public Sans Bold"/>
                <a:sym typeface="Public Sans Bold"/>
              </a:rPr>
              <a:t>Payment Service → Payment handling</a:t>
            </a:r>
          </a:p>
          <a:p>
            <a:pPr algn="l" marL="431799" indent="-215899" lvl="1">
              <a:lnSpc>
                <a:spcPts val="3259"/>
              </a:lnSpc>
              <a:buFont typeface="Arial"/>
              <a:buChar char="•"/>
            </a:pPr>
            <a:r>
              <a:rPr lang="en-US" b="true" sz="1999" spc="113">
                <a:solidFill>
                  <a:srgbClr val="1C2011"/>
                </a:solidFill>
                <a:latin typeface="Public Sans Bold"/>
                <a:ea typeface="Public Sans Bold"/>
                <a:cs typeface="Public Sans Bold"/>
                <a:sym typeface="Public Sans Bold"/>
              </a:rPr>
              <a:t>Notification Service → Alerts &amp; reminders</a:t>
            </a:r>
          </a:p>
        </p:txBody>
      </p:sp>
      <p:sp>
        <p:nvSpPr>
          <p:cNvPr name="TextBox 21" id="21"/>
          <p:cNvSpPr txBox="true"/>
          <p:nvPr/>
        </p:nvSpPr>
        <p:spPr>
          <a:xfrm rot="0">
            <a:off x="7718418" y="3151640"/>
            <a:ext cx="3393959" cy="412115"/>
          </a:xfrm>
          <a:prstGeom prst="rect">
            <a:avLst/>
          </a:prstGeom>
        </p:spPr>
        <p:txBody>
          <a:bodyPr anchor="t" rtlCol="false" tIns="0" lIns="0" bIns="0" rIns="0">
            <a:spAutoFit/>
          </a:bodyPr>
          <a:lstStyle/>
          <a:p>
            <a:pPr algn="ctr">
              <a:lnSpc>
                <a:spcPts val="3249"/>
              </a:lnSpc>
            </a:pPr>
            <a:r>
              <a:rPr lang="en-US" sz="2599" b="true">
                <a:solidFill>
                  <a:srgbClr val="1C2011"/>
                </a:solidFill>
                <a:latin typeface="Gordita Bold"/>
                <a:ea typeface="Gordita Bold"/>
                <a:cs typeface="Gordita Bold"/>
                <a:sym typeface="Gordita Bold"/>
              </a:rPr>
              <a:t>Application Layer</a:t>
            </a:r>
          </a:p>
        </p:txBody>
      </p:sp>
      <p:grpSp>
        <p:nvGrpSpPr>
          <p:cNvPr name="Group 22" id="22"/>
          <p:cNvGrpSpPr/>
          <p:nvPr/>
        </p:nvGrpSpPr>
        <p:grpSpPr>
          <a:xfrm rot="0">
            <a:off x="13212329" y="3760227"/>
            <a:ext cx="4592213" cy="4730722"/>
            <a:chOff x="0" y="0"/>
            <a:chExt cx="1209472" cy="1245951"/>
          </a:xfrm>
        </p:grpSpPr>
        <p:sp>
          <p:nvSpPr>
            <p:cNvPr name="Freeform 23" id="23"/>
            <p:cNvSpPr/>
            <p:nvPr/>
          </p:nvSpPr>
          <p:spPr>
            <a:xfrm flipH="false" flipV="false" rot="0">
              <a:off x="0" y="0"/>
              <a:ext cx="1209472" cy="1245951"/>
            </a:xfrm>
            <a:custGeom>
              <a:avLst/>
              <a:gdLst/>
              <a:ahLst/>
              <a:cxnLst/>
              <a:rect r="r" b="b" t="t" l="l"/>
              <a:pathLst>
                <a:path h="1245951" w="1209472">
                  <a:moveTo>
                    <a:pt x="168588" y="0"/>
                  </a:moveTo>
                  <a:lnTo>
                    <a:pt x="1040884" y="0"/>
                  </a:lnTo>
                  <a:cubicBezTo>
                    <a:pt x="1133992" y="0"/>
                    <a:pt x="1209472" y="75479"/>
                    <a:pt x="1209472" y="168588"/>
                  </a:cubicBezTo>
                  <a:lnTo>
                    <a:pt x="1209472" y="1077363"/>
                  </a:lnTo>
                  <a:cubicBezTo>
                    <a:pt x="1209472" y="1122076"/>
                    <a:pt x="1191710" y="1164957"/>
                    <a:pt x="1160093" y="1196573"/>
                  </a:cubicBezTo>
                  <a:cubicBezTo>
                    <a:pt x="1128477" y="1228189"/>
                    <a:pt x="1085596" y="1245951"/>
                    <a:pt x="1040884" y="1245951"/>
                  </a:cubicBezTo>
                  <a:lnTo>
                    <a:pt x="168588" y="1245951"/>
                  </a:lnTo>
                  <a:cubicBezTo>
                    <a:pt x="75479" y="1245951"/>
                    <a:pt x="0" y="1170472"/>
                    <a:pt x="0" y="1077363"/>
                  </a:cubicBezTo>
                  <a:lnTo>
                    <a:pt x="0" y="168588"/>
                  </a:lnTo>
                  <a:cubicBezTo>
                    <a:pt x="0" y="75479"/>
                    <a:pt x="75479" y="0"/>
                    <a:pt x="168588" y="0"/>
                  </a:cubicBezTo>
                  <a:close/>
                </a:path>
              </a:pathLst>
            </a:custGeom>
            <a:solidFill>
              <a:srgbClr val="D3E1FF"/>
            </a:solidFill>
          </p:spPr>
        </p:sp>
        <p:sp>
          <p:nvSpPr>
            <p:cNvPr name="TextBox 24" id="24"/>
            <p:cNvSpPr txBox="true"/>
            <p:nvPr/>
          </p:nvSpPr>
          <p:spPr>
            <a:xfrm>
              <a:off x="0" y="-19050"/>
              <a:ext cx="1209472" cy="1265001"/>
            </a:xfrm>
            <a:prstGeom prst="rect">
              <a:avLst/>
            </a:prstGeom>
          </p:spPr>
          <p:txBody>
            <a:bodyPr anchor="ctr" rtlCol="false" tIns="50800" lIns="50800" bIns="50800" rIns="50800"/>
            <a:lstStyle/>
            <a:p>
              <a:pPr algn="ctr">
                <a:lnSpc>
                  <a:spcPts val="3137"/>
                </a:lnSpc>
              </a:pPr>
            </a:p>
          </p:txBody>
        </p:sp>
      </p:grpSp>
      <p:sp>
        <p:nvSpPr>
          <p:cNvPr name="TextBox 25" id="25"/>
          <p:cNvSpPr txBox="true"/>
          <p:nvPr/>
        </p:nvSpPr>
        <p:spPr>
          <a:xfrm rot="0">
            <a:off x="13772180" y="4551168"/>
            <a:ext cx="5160801" cy="2916555"/>
          </a:xfrm>
          <a:prstGeom prst="rect">
            <a:avLst/>
          </a:prstGeom>
        </p:spPr>
        <p:txBody>
          <a:bodyPr anchor="t" rtlCol="false" tIns="0" lIns="0" bIns="0" rIns="0">
            <a:spAutoFit/>
          </a:bodyPr>
          <a:lstStyle/>
          <a:p>
            <a:pPr algn="l" marL="431799" indent="-215899" lvl="1">
              <a:lnSpc>
                <a:spcPts val="3359"/>
              </a:lnSpc>
              <a:buFont typeface="Arial"/>
              <a:buChar char="•"/>
            </a:pPr>
            <a:r>
              <a:rPr lang="en-US" b="true" sz="1999" spc="113">
                <a:solidFill>
                  <a:srgbClr val="1C2011"/>
                </a:solidFill>
                <a:latin typeface="Public Sans Bold"/>
                <a:ea typeface="Public Sans Bold"/>
                <a:cs typeface="Public Sans Bold"/>
                <a:sym typeface="Public Sans Bold"/>
              </a:rPr>
              <a:t>MongoDB</a:t>
            </a:r>
          </a:p>
          <a:p>
            <a:pPr algn="l" marL="431799" indent="-215899" lvl="1">
              <a:lnSpc>
                <a:spcPts val="3359"/>
              </a:lnSpc>
              <a:buFont typeface="Arial"/>
              <a:buChar char="•"/>
            </a:pPr>
            <a:r>
              <a:rPr lang="en-US" b="true" sz="1999" spc="113">
                <a:solidFill>
                  <a:srgbClr val="1C2011"/>
                </a:solidFill>
                <a:latin typeface="Public Sans Bold"/>
                <a:ea typeface="Public Sans Bold"/>
                <a:cs typeface="Public Sans Bold"/>
                <a:sym typeface="Public Sans Bold"/>
              </a:rPr>
              <a:t>Stores:</a:t>
            </a:r>
          </a:p>
          <a:p>
            <a:pPr algn="l" marL="863598" indent="-287866" lvl="2">
              <a:lnSpc>
                <a:spcPts val="3359"/>
              </a:lnSpc>
              <a:buFont typeface="Arial"/>
              <a:buChar char="⚬"/>
            </a:pPr>
            <a:r>
              <a:rPr lang="en-US" b="true" sz="1999" spc="113">
                <a:solidFill>
                  <a:srgbClr val="1C2011"/>
                </a:solidFill>
                <a:latin typeface="Public Sans Bold"/>
                <a:ea typeface="Public Sans Bold"/>
                <a:cs typeface="Public Sans Bold"/>
                <a:sym typeface="Public Sans Bold"/>
              </a:rPr>
              <a:t>User data</a:t>
            </a:r>
          </a:p>
          <a:p>
            <a:pPr algn="l" marL="863598" indent="-287866" lvl="2">
              <a:lnSpc>
                <a:spcPts val="3359"/>
              </a:lnSpc>
              <a:buFont typeface="Arial"/>
              <a:buChar char="⚬"/>
            </a:pPr>
            <a:r>
              <a:rPr lang="en-US" b="true" sz="1999" spc="113">
                <a:solidFill>
                  <a:srgbClr val="1C2011"/>
                </a:solidFill>
                <a:latin typeface="Public Sans Bold"/>
                <a:ea typeface="Public Sans Bold"/>
                <a:cs typeface="Public Sans Bold"/>
                <a:sym typeface="Public Sans Bold"/>
              </a:rPr>
              <a:t>Provider details</a:t>
            </a:r>
          </a:p>
          <a:p>
            <a:pPr algn="l" marL="863598" indent="-287866" lvl="2">
              <a:lnSpc>
                <a:spcPts val="3359"/>
              </a:lnSpc>
              <a:buFont typeface="Arial"/>
              <a:buChar char="⚬"/>
            </a:pPr>
            <a:r>
              <a:rPr lang="en-US" b="true" sz="1999" spc="113">
                <a:solidFill>
                  <a:srgbClr val="1C2011"/>
                </a:solidFill>
                <a:latin typeface="Public Sans Bold"/>
                <a:ea typeface="Public Sans Bold"/>
                <a:cs typeface="Public Sans Bold"/>
                <a:sym typeface="Public Sans Bold"/>
              </a:rPr>
              <a:t>Appointment records</a:t>
            </a:r>
          </a:p>
          <a:p>
            <a:pPr algn="l" marL="863598" indent="-287866" lvl="2">
              <a:lnSpc>
                <a:spcPts val="3359"/>
              </a:lnSpc>
              <a:buFont typeface="Arial"/>
              <a:buChar char="⚬"/>
            </a:pPr>
            <a:r>
              <a:rPr lang="en-US" b="true" sz="1999" spc="113">
                <a:solidFill>
                  <a:srgbClr val="1C2011"/>
                </a:solidFill>
                <a:latin typeface="Public Sans Bold"/>
                <a:ea typeface="Public Sans Bold"/>
                <a:cs typeface="Public Sans Bold"/>
                <a:sym typeface="Public Sans Bold"/>
              </a:rPr>
              <a:t>Payment information</a:t>
            </a:r>
          </a:p>
          <a:p>
            <a:pPr algn="l">
              <a:lnSpc>
                <a:spcPts val="3359"/>
              </a:lnSpc>
            </a:pPr>
          </a:p>
        </p:txBody>
      </p:sp>
      <p:sp>
        <p:nvSpPr>
          <p:cNvPr name="TextBox 26" id="26"/>
          <p:cNvSpPr txBox="true"/>
          <p:nvPr/>
        </p:nvSpPr>
        <p:spPr>
          <a:xfrm rot="0">
            <a:off x="13574798" y="3151640"/>
            <a:ext cx="3393959" cy="412115"/>
          </a:xfrm>
          <a:prstGeom prst="rect">
            <a:avLst/>
          </a:prstGeom>
        </p:spPr>
        <p:txBody>
          <a:bodyPr anchor="t" rtlCol="false" tIns="0" lIns="0" bIns="0" rIns="0">
            <a:spAutoFit/>
          </a:bodyPr>
          <a:lstStyle/>
          <a:p>
            <a:pPr algn="ctr">
              <a:lnSpc>
                <a:spcPts val="3249"/>
              </a:lnSpc>
            </a:pPr>
            <a:r>
              <a:rPr lang="en-US" sz="2599" b="true">
                <a:solidFill>
                  <a:srgbClr val="1C2011"/>
                </a:solidFill>
                <a:latin typeface="Gordita Bold"/>
                <a:ea typeface="Gordita Bold"/>
                <a:cs typeface="Gordita Bold"/>
                <a:sym typeface="Gordita Bold"/>
              </a:rPr>
              <a:t>Data Layer</a:t>
            </a:r>
          </a:p>
        </p:txBody>
      </p:sp>
      <p:grpSp>
        <p:nvGrpSpPr>
          <p:cNvPr name="Group 27" id="27"/>
          <p:cNvGrpSpPr/>
          <p:nvPr/>
        </p:nvGrpSpPr>
        <p:grpSpPr>
          <a:xfrm rot="0">
            <a:off x="15203483" y="9519403"/>
            <a:ext cx="5202118" cy="2782028"/>
            <a:chOff x="0" y="0"/>
            <a:chExt cx="1370105" cy="732715"/>
          </a:xfrm>
        </p:grpSpPr>
        <p:sp>
          <p:nvSpPr>
            <p:cNvPr name="Freeform 28" id="28"/>
            <p:cNvSpPr/>
            <p:nvPr/>
          </p:nvSpPr>
          <p:spPr>
            <a:xfrm flipH="false" flipV="false" rot="0">
              <a:off x="0" y="0"/>
              <a:ext cx="1370105" cy="732715"/>
            </a:xfrm>
            <a:custGeom>
              <a:avLst/>
              <a:gdLst/>
              <a:ahLst/>
              <a:cxnLst/>
              <a:rect r="r" b="b" t="t" l="l"/>
              <a:pathLst>
                <a:path h="732715" w="1370105">
                  <a:moveTo>
                    <a:pt x="148822" y="0"/>
                  </a:moveTo>
                  <a:lnTo>
                    <a:pt x="1221283" y="0"/>
                  </a:lnTo>
                  <a:cubicBezTo>
                    <a:pt x="1260753" y="0"/>
                    <a:pt x="1298606" y="15679"/>
                    <a:pt x="1326516" y="43589"/>
                  </a:cubicBezTo>
                  <a:cubicBezTo>
                    <a:pt x="1354426" y="71499"/>
                    <a:pt x="1370105" y="109352"/>
                    <a:pt x="1370105" y="148822"/>
                  </a:cubicBezTo>
                  <a:lnTo>
                    <a:pt x="1370105" y="583893"/>
                  </a:lnTo>
                  <a:cubicBezTo>
                    <a:pt x="1370105" y="623363"/>
                    <a:pt x="1354426" y="661217"/>
                    <a:pt x="1326516" y="689126"/>
                  </a:cubicBezTo>
                  <a:cubicBezTo>
                    <a:pt x="1298606" y="717036"/>
                    <a:pt x="1260753" y="732715"/>
                    <a:pt x="1221283" y="732715"/>
                  </a:cubicBezTo>
                  <a:lnTo>
                    <a:pt x="148822" y="732715"/>
                  </a:lnTo>
                  <a:cubicBezTo>
                    <a:pt x="109352" y="732715"/>
                    <a:pt x="71499" y="717036"/>
                    <a:pt x="43589" y="689126"/>
                  </a:cubicBezTo>
                  <a:cubicBezTo>
                    <a:pt x="15679" y="661217"/>
                    <a:pt x="0" y="623363"/>
                    <a:pt x="0" y="583893"/>
                  </a:cubicBezTo>
                  <a:lnTo>
                    <a:pt x="0" y="148822"/>
                  </a:lnTo>
                  <a:cubicBezTo>
                    <a:pt x="0" y="109352"/>
                    <a:pt x="15679" y="71499"/>
                    <a:pt x="43589" y="43589"/>
                  </a:cubicBezTo>
                  <a:cubicBezTo>
                    <a:pt x="71499" y="15679"/>
                    <a:pt x="109352" y="0"/>
                    <a:pt x="148822" y="0"/>
                  </a:cubicBezTo>
                  <a:close/>
                </a:path>
              </a:pathLst>
            </a:custGeom>
            <a:solidFill>
              <a:srgbClr val="8EAEF1"/>
            </a:solidFill>
          </p:spPr>
        </p:sp>
        <p:sp>
          <p:nvSpPr>
            <p:cNvPr name="TextBox 29" id="29"/>
            <p:cNvSpPr txBox="true"/>
            <p:nvPr/>
          </p:nvSpPr>
          <p:spPr>
            <a:xfrm>
              <a:off x="0" y="-19050"/>
              <a:ext cx="1370105" cy="751765"/>
            </a:xfrm>
            <a:prstGeom prst="rect">
              <a:avLst/>
            </a:prstGeom>
          </p:spPr>
          <p:txBody>
            <a:bodyPr anchor="ctr" rtlCol="false" tIns="50800" lIns="50800" bIns="50800" rIns="50800"/>
            <a:lstStyle/>
            <a:p>
              <a:pPr algn="ctr">
                <a:lnSpc>
                  <a:spcPts val="3137"/>
                </a:lnSpc>
              </a:pPr>
            </a:p>
          </p:txBody>
        </p:sp>
      </p:grpSp>
      <p:sp>
        <p:nvSpPr>
          <p:cNvPr name="Freeform 30" id="30"/>
          <p:cNvSpPr/>
          <p:nvPr/>
        </p:nvSpPr>
        <p:spPr>
          <a:xfrm flipH="false" flipV="false" rot="0">
            <a:off x="15508435" y="9719673"/>
            <a:ext cx="2783644" cy="522207"/>
          </a:xfrm>
          <a:custGeom>
            <a:avLst/>
            <a:gdLst/>
            <a:ahLst/>
            <a:cxnLst/>
            <a:rect r="r" b="b" t="t" l="l"/>
            <a:pathLst>
              <a:path h="522207" w="2783644">
                <a:moveTo>
                  <a:pt x="0" y="0"/>
                </a:moveTo>
                <a:lnTo>
                  <a:pt x="2783644" y="0"/>
                </a:lnTo>
                <a:lnTo>
                  <a:pt x="2783644" y="522207"/>
                </a:lnTo>
                <a:lnTo>
                  <a:pt x="0" y="522207"/>
                </a:lnTo>
                <a:lnTo>
                  <a:pt x="0" y="0"/>
                </a:lnTo>
                <a:close/>
              </a:path>
            </a:pathLst>
          </a:custGeom>
          <a:blipFill>
            <a:blip r:embed="rId3"/>
            <a:stretch>
              <a:fillRect l="-59695" t="0" r="-56015" b="-1012486"/>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AF4"/>
        </a:solidFill>
      </p:bgPr>
    </p:bg>
    <p:spTree>
      <p:nvGrpSpPr>
        <p:cNvPr id="1" name=""/>
        <p:cNvGrpSpPr/>
        <p:nvPr/>
      </p:nvGrpSpPr>
      <p:grpSpPr>
        <a:xfrm>
          <a:off x="0" y="0"/>
          <a:ext cx="0" cy="0"/>
          <a:chOff x="0" y="0"/>
          <a:chExt cx="0" cy="0"/>
        </a:xfrm>
      </p:grpSpPr>
      <p:grpSp>
        <p:nvGrpSpPr>
          <p:cNvPr name="Group 2" id="2"/>
          <p:cNvGrpSpPr/>
          <p:nvPr/>
        </p:nvGrpSpPr>
        <p:grpSpPr>
          <a:xfrm rot="0">
            <a:off x="8518458" y="820585"/>
            <a:ext cx="19067455" cy="492429"/>
            <a:chOff x="0" y="0"/>
            <a:chExt cx="25423274" cy="656572"/>
          </a:xfrm>
        </p:grpSpPr>
        <p:sp>
          <p:nvSpPr>
            <p:cNvPr name="Freeform 3" id="3"/>
            <p:cNvSpPr/>
            <p:nvPr/>
          </p:nvSpPr>
          <p:spPr>
            <a:xfrm flipH="false" flipV="false" rot="0">
              <a:off x="0" y="0"/>
              <a:ext cx="6816355" cy="656572"/>
            </a:xfrm>
            <a:custGeom>
              <a:avLst/>
              <a:gdLst/>
              <a:ahLst/>
              <a:cxnLst/>
              <a:rect r="r" b="b" t="t" l="l"/>
              <a:pathLst>
                <a:path h="656572" w="6816355">
                  <a:moveTo>
                    <a:pt x="0" y="0"/>
                  </a:moveTo>
                  <a:lnTo>
                    <a:pt x="6816355" y="0"/>
                  </a:lnTo>
                  <a:lnTo>
                    <a:pt x="6816355" y="656572"/>
                  </a:lnTo>
                  <a:lnTo>
                    <a:pt x="0" y="656572"/>
                  </a:lnTo>
                  <a:lnTo>
                    <a:pt x="0" y="0"/>
                  </a:lnTo>
                  <a:close/>
                </a:path>
              </a:pathLst>
            </a:custGeom>
            <a:blipFill>
              <a:blip r:embed="rId2"/>
              <a:stretch>
                <a:fillRect l="0" t="0" r="0" b="-818782"/>
              </a:stretch>
            </a:blipFill>
            <a:ln cap="sq">
              <a:noFill/>
              <a:prstDash val="solid"/>
              <a:miter/>
            </a:ln>
          </p:spPr>
        </p:sp>
        <p:sp>
          <p:nvSpPr>
            <p:cNvPr name="Freeform 4" id="4"/>
            <p:cNvSpPr/>
            <p:nvPr/>
          </p:nvSpPr>
          <p:spPr>
            <a:xfrm flipH="false" flipV="false" rot="0">
              <a:off x="12405127" y="0"/>
              <a:ext cx="6816355" cy="656572"/>
            </a:xfrm>
            <a:custGeom>
              <a:avLst/>
              <a:gdLst/>
              <a:ahLst/>
              <a:cxnLst/>
              <a:rect r="r" b="b" t="t" l="l"/>
              <a:pathLst>
                <a:path h="656572" w="6816355">
                  <a:moveTo>
                    <a:pt x="0" y="0"/>
                  </a:moveTo>
                  <a:lnTo>
                    <a:pt x="6816355" y="0"/>
                  </a:lnTo>
                  <a:lnTo>
                    <a:pt x="6816355" y="656572"/>
                  </a:lnTo>
                  <a:lnTo>
                    <a:pt x="0" y="656572"/>
                  </a:lnTo>
                  <a:lnTo>
                    <a:pt x="0" y="0"/>
                  </a:lnTo>
                  <a:close/>
                </a:path>
              </a:pathLst>
            </a:custGeom>
            <a:blipFill>
              <a:blip r:embed="rId2"/>
              <a:stretch>
                <a:fillRect l="0" t="0" r="0" b="-818782"/>
              </a:stretch>
            </a:blipFill>
            <a:ln cap="sq">
              <a:noFill/>
              <a:prstDash val="solid"/>
              <a:miter/>
            </a:ln>
          </p:spPr>
        </p:sp>
        <p:sp>
          <p:nvSpPr>
            <p:cNvPr name="Freeform 5" id="5"/>
            <p:cNvSpPr/>
            <p:nvPr/>
          </p:nvSpPr>
          <p:spPr>
            <a:xfrm flipH="false" flipV="false" rot="0">
              <a:off x="6206848" y="0"/>
              <a:ext cx="6816355" cy="656572"/>
            </a:xfrm>
            <a:custGeom>
              <a:avLst/>
              <a:gdLst/>
              <a:ahLst/>
              <a:cxnLst/>
              <a:rect r="r" b="b" t="t" l="l"/>
              <a:pathLst>
                <a:path h="656572" w="6816355">
                  <a:moveTo>
                    <a:pt x="0" y="0"/>
                  </a:moveTo>
                  <a:lnTo>
                    <a:pt x="6816355" y="0"/>
                  </a:lnTo>
                  <a:lnTo>
                    <a:pt x="6816355" y="656572"/>
                  </a:lnTo>
                  <a:lnTo>
                    <a:pt x="0" y="656572"/>
                  </a:lnTo>
                  <a:lnTo>
                    <a:pt x="0" y="0"/>
                  </a:lnTo>
                  <a:close/>
                </a:path>
              </a:pathLst>
            </a:custGeom>
            <a:blipFill>
              <a:blip r:embed="rId2"/>
              <a:stretch>
                <a:fillRect l="0" t="0" r="0" b="-818782"/>
              </a:stretch>
            </a:blipFill>
            <a:ln cap="sq">
              <a:noFill/>
              <a:prstDash val="solid"/>
              <a:miter/>
            </a:ln>
          </p:spPr>
        </p:sp>
        <p:sp>
          <p:nvSpPr>
            <p:cNvPr name="Freeform 6" id="6"/>
            <p:cNvSpPr/>
            <p:nvPr/>
          </p:nvSpPr>
          <p:spPr>
            <a:xfrm flipH="false" flipV="false" rot="0">
              <a:off x="18606919" y="0"/>
              <a:ext cx="6816355" cy="656572"/>
            </a:xfrm>
            <a:custGeom>
              <a:avLst/>
              <a:gdLst/>
              <a:ahLst/>
              <a:cxnLst/>
              <a:rect r="r" b="b" t="t" l="l"/>
              <a:pathLst>
                <a:path h="656572" w="6816355">
                  <a:moveTo>
                    <a:pt x="0" y="0"/>
                  </a:moveTo>
                  <a:lnTo>
                    <a:pt x="6816355" y="0"/>
                  </a:lnTo>
                  <a:lnTo>
                    <a:pt x="6816355" y="656572"/>
                  </a:lnTo>
                  <a:lnTo>
                    <a:pt x="0" y="656572"/>
                  </a:lnTo>
                  <a:lnTo>
                    <a:pt x="0" y="0"/>
                  </a:lnTo>
                  <a:close/>
                </a:path>
              </a:pathLst>
            </a:custGeom>
            <a:blipFill>
              <a:blip r:embed="rId2"/>
              <a:stretch>
                <a:fillRect l="0" t="0" r="0" b="-818782"/>
              </a:stretch>
            </a:blipFill>
            <a:ln cap="sq">
              <a:noFill/>
              <a:prstDash val="solid"/>
              <a:miter/>
            </a:ln>
          </p:spPr>
        </p:sp>
      </p:grpSp>
      <p:grpSp>
        <p:nvGrpSpPr>
          <p:cNvPr name="Group 7" id="7"/>
          <p:cNvGrpSpPr/>
          <p:nvPr/>
        </p:nvGrpSpPr>
        <p:grpSpPr>
          <a:xfrm rot="0">
            <a:off x="-1017209" y="-703525"/>
            <a:ext cx="5202118" cy="2782028"/>
            <a:chOff x="0" y="0"/>
            <a:chExt cx="1370105" cy="732715"/>
          </a:xfrm>
        </p:grpSpPr>
        <p:sp>
          <p:nvSpPr>
            <p:cNvPr name="Freeform 8" id="8"/>
            <p:cNvSpPr/>
            <p:nvPr/>
          </p:nvSpPr>
          <p:spPr>
            <a:xfrm flipH="false" flipV="false" rot="0">
              <a:off x="0" y="0"/>
              <a:ext cx="1370105" cy="732715"/>
            </a:xfrm>
            <a:custGeom>
              <a:avLst/>
              <a:gdLst/>
              <a:ahLst/>
              <a:cxnLst/>
              <a:rect r="r" b="b" t="t" l="l"/>
              <a:pathLst>
                <a:path h="732715" w="1370105">
                  <a:moveTo>
                    <a:pt x="148822" y="0"/>
                  </a:moveTo>
                  <a:lnTo>
                    <a:pt x="1221283" y="0"/>
                  </a:lnTo>
                  <a:cubicBezTo>
                    <a:pt x="1260753" y="0"/>
                    <a:pt x="1298606" y="15679"/>
                    <a:pt x="1326516" y="43589"/>
                  </a:cubicBezTo>
                  <a:cubicBezTo>
                    <a:pt x="1354426" y="71499"/>
                    <a:pt x="1370105" y="109352"/>
                    <a:pt x="1370105" y="148822"/>
                  </a:cubicBezTo>
                  <a:lnTo>
                    <a:pt x="1370105" y="583893"/>
                  </a:lnTo>
                  <a:cubicBezTo>
                    <a:pt x="1370105" y="623363"/>
                    <a:pt x="1354426" y="661217"/>
                    <a:pt x="1326516" y="689126"/>
                  </a:cubicBezTo>
                  <a:cubicBezTo>
                    <a:pt x="1298606" y="717036"/>
                    <a:pt x="1260753" y="732715"/>
                    <a:pt x="1221283" y="732715"/>
                  </a:cubicBezTo>
                  <a:lnTo>
                    <a:pt x="148822" y="732715"/>
                  </a:lnTo>
                  <a:cubicBezTo>
                    <a:pt x="109352" y="732715"/>
                    <a:pt x="71499" y="717036"/>
                    <a:pt x="43589" y="689126"/>
                  </a:cubicBezTo>
                  <a:cubicBezTo>
                    <a:pt x="15679" y="661217"/>
                    <a:pt x="0" y="623363"/>
                    <a:pt x="0" y="583893"/>
                  </a:cubicBezTo>
                  <a:lnTo>
                    <a:pt x="0" y="148822"/>
                  </a:lnTo>
                  <a:cubicBezTo>
                    <a:pt x="0" y="109352"/>
                    <a:pt x="15679" y="71499"/>
                    <a:pt x="43589" y="43589"/>
                  </a:cubicBezTo>
                  <a:cubicBezTo>
                    <a:pt x="71499" y="15679"/>
                    <a:pt x="109352" y="0"/>
                    <a:pt x="148822" y="0"/>
                  </a:cubicBezTo>
                  <a:close/>
                </a:path>
              </a:pathLst>
            </a:custGeom>
            <a:solidFill>
              <a:srgbClr val="8EAEF1"/>
            </a:solidFill>
          </p:spPr>
        </p:sp>
        <p:sp>
          <p:nvSpPr>
            <p:cNvPr name="TextBox 9" id="9"/>
            <p:cNvSpPr txBox="true"/>
            <p:nvPr/>
          </p:nvSpPr>
          <p:spPr>
            <a:xfrm>
              <a:off x="0" y="-19050"/>
              <a:ext cx="1370105" cy="751765"/>
            </a:xfrm>
            <a:prstGeom prst="rect">
              <a:avLst/>
            </a:prstGeom>
          </p:spPr>
          <p:txBody>
            <a:bodyPr anchor="ctr" rtlCol="false" tIns="50800" lIns="50800" bIns="50800" rIns="50800"/>
            <a:lstStyle/>
            <a:p>
              <a:pPr algn="ctr">
                <a:lnSpc>
                  <a:spcPts val="3137"/>
                </a:lnSpc>
              </a:pPr>
            </a:p>
          </p:txBody>
        </p:sp>
      </p:grpSp>
      <p:sp>
        <p:nvSpPr>
          <p:cNvPr name="Freeform 10" id="10"/>
          <p:cNvSpPr/>
          <p:nvPr/>
        </p:nvSpPr>
        <p:spPr>
          <a:xfrm flipH="false" flipV="false" rot="0">
            <a:off x="-274310" y="687489"/>
            <a:ext cx="2783644" cy="522207"/>
          </a:xfrm>
          <a:custGeom>
            <a:avLst/>
            <a:gdLst/>
            <a:ahLst/>
            <a:cxnLst/>
            <a:rect r="r" b="b" t="t" l="l"/>
            <a:pathLst>
              <a:path h="522207" w="2783644">
                <a:moveTo>
                  <a:pt x="0" y="0"/>
                </a:moveTo>
                <a:lnTo>
                  <a:pt x="2783644" y="0"/>
                </a:lnTo>
                <a:lnTo>
                  <a:pt x="2783644" y="522207"/>
                </a:lnTo>
                <a:lnTo>
                  <a:pt x="0" y="522207"/>
                </a:lnTo>
                <a:lnTo>
                  <a:pt x="0" y="0"/>
                </a:lnTo>
                <a:close/>
              </a:path>
            </a:pathLst>
          </a:custGeom>
          <a:blipFill>
            <a:blip r:embed="rId3"/>
            <a:stretch>
              <a:fillRect l="-59695" t="0" r="-56015" b="-1012486"/>
            </a:stretch>
          </a:blipFill>
        </p:spPr>
      </p:sp>
      <p:grpSp>
        <p:nvGrpSpPr>
          <p:cNvPr name="Group 11" id="11"/>
          <p:cNvGrpSpPr/>
          <p:nvPr/>
        </p:nvGrpSpPr>
        <p:grpSpPr>
          <a:xfrm rot="0">
            <a:off x="15203483" y="9519403"/>
            <a:ext cx="5202118" cy="2782028"/>
            <a:chOff x="0" y="0"/>
            <a:chExt cx="1370105" cy="732715"/>
          </a:xfrm>
        </p:grpSpPr>
        <p:sp>
          <p:nvSpPr>
            <p:cNvPr name="Freeform 12" id="12"/>
            <p:cNvSpPr/>
            <p:nvPr/>
          </p:nvSpPr>
          <p:spPr>
            <a:xfrm flipH="false" flipV="false" rot="0">
              <a:off x="0" y="0"/>
              <a:ext cx="1370105" cy="732715"/>
            </a:xfrm>
            <a:custGeom>
              <a:avLst/>
              <a:gdLst/>
              <a:ahLst/>
              <a:cxnLst/>
              <a:rect r="r" b="b" t="t" l="l"/>
              <a:pathLst>
                <a:path h="732715" w="1370105">
                  <a:moveTo>
                    <a:pt x="148822" y="0"/>
                  </a:moveTo>
                  <a:lnTo>
                    <a:pt x="1221283" y="0"/>
                  </a:lnTo>
                  <a:cubicBezTo>
                    <a:pt x="1260753" y="0"/>
                    <a:pt x="1298606" y="15679"/>
                    <a:pt x="1326516" y="43589"/>
                  </a:cubicBezTo>
                  <a:cubicBezTo>
                    <a:pt x="1354426" y="71499"/>
                    <a:pt x="1370105" y="109352"/>
                    <a:pt x="1370105" y="148822"/>
                  </a:cubicBezTo>
                  <a:lnTo>
                    <a:pt x="1370105" y="583893"/>
                  </a:lnTo>
                  <a:cubicBezTo>
                    <a:pt x="1370105" y="623363"/>
                    <a:pt x="1354426" y="661217"/>
                    <a:pt x="1326516" y="689126"/>
                  </a:cubicBezTo>
                  <a:cubicBezTo>
                    <a:pt x="1298606" y="717036"/>
                    <a:pt x="1260753" y="732715"/>
                    <a:pt x="1221283" y="732715"/>
                  </a:cubicBezTo>
                  <a:lnTo>
                    <a:pt x="148822" y="732715"/>
                  </a:lnTo>
                  <a:cubicBezTo>
                    <a:pt x="109352" y="732715"/>
                    <a:pt x="71499" y="717036"/>
                    <a:pt x="43589" y="689126"/>
                  </a:cubicBezTo>
                  <a:cubicBezTo>
                    <a:pt x="15679" y="661217"/>
                    <a:pt x="0" y="623363"/>
                    <a:pt x="0" y="583893"/>
                  </a:cubicBezTo>
                  <a:lnTo>
                    <a:pt x="0" y="148822"/>
                  </a:lnTo>
                  <a:cubicBezTo>
                    <a:pt x="0" y="109352"/>
                    <a:pt x="15679" y="71499"/>
                    <a:pt x="43589" y="43589"/>
                  </a:cubicBezTo>
                  <a:cubicBezTo>
                    <a:pt x="71499" y="15679"/>
                    <a:pt x="109352" y="0"/>
                    <a:pt x="148822" y="0"/>
                  </a:cubicBezTo>
                  <a:close/>
                </a:path>
              </a:pathLst>
            </a:custGeom>
            <a:solidFill>
              <a:srgbClr val="8EAEF1"/>
            </a:solidFill>
          </p:spPr>
        </p:sp>
        <p:sp>
          <p:nvSpPr>
            <p:cNvPr name="TextBox 13" id="13"/>
            <p:cNvSpPr txBox="true"/>
            <p:nvPr/>
          </p:nvSpPr>
          <p:spPr>
            <a:xfrm>
              <a:off x="0" y="-19050"/>
              <a:ext cx="1370105" cy="751765"/>
            </a:xfrm>
            <a:prstGeom prst="rect">
              <a:avLst/>
            </a:prstGeom>
          </p:spPr>
          <p:txBody>
            <a:bodyPr anchor="ctr" rtlCol="false" tIns="50800" lIns="50800" bIns="50800" rIns="50800"/>
            <a:lstStyle/>
            <a:p>
              <a:pPr algn="ctr">
                <a:lnSpc>
                  <a:spcPts val="3137"/>
                </a:lnSpc>
              </a:pPr>
            </a:p>
          </p:txBody>
        </p:sp>
      </p:grpSp>
      <p:sp>
        <p:nvSpPr>
          <p:cNvPr name="Freeform 14" id="14"/>
          <p:cNvSpPr/>
          <p:nvPr/>
        </p:nvSpPr>
        <p:spPr>
          <a:xfrm flipH="false" flipV="false" rot="0">
            <a:off x="15508435" y="9719673"/>
            <a:ext cx="2783644" cy="522207"/>
          </a:xfrm>
          <a:custGeom>
            <a:avLst/>
            <a:gdLst/>
            <a:ahLst/>
            <a:cxnLst/>
            <a:rect r="r" b="b" t="t" l="l"/>
            <a:pathLst>
              <a:path h="522207" w="2783644">
                <a:moveTo>
                  <a:pt x="0" y="0"/>
                </a:moveTo>
                <a:lnTo>
                  <a:pt x="2783644" y="0"/>
                </a:lnTo>
                <a:lnTo>
                  <a:pt x="2783644" y="522207"/>
                </a:lnTo>
                <a:lnTo>
                  <a:pt x="0" y="522207"/>
                </a:lnTo>
                <a:lnTo>
                  <a:pt x="0" y="0"/>
                </a:lnTo>
                <a:close/>
              </a:path>
            </a:pathLst>
          </a:custGeom>
          <a:blipFill>
            <a:blip r:embed="rId3"/>
            <a:stretch>
              <a:fillRect l="-59695" t="0" r="-56015" b="-1012486"/>
            </a:stretch>
          </a:blipFill>
        </p:spPr>
      </p:sp>
      <p:sp>
        <p:nvSpPr>
          <p:cNvPr name="Freeform 15" id="15"/>
          <p:cNvSpPr/>
          <p:nvPr/>
        </p:nvSpPr>
        <p:spPr>
          <a:xfrm flipH="false" flipV="false" rot="0">
            <a:off x="2664970" y="2959005"/>
            <a:ext cx="13570541" cy="6760668"/>
          </a:xfrm>
          <a:custGeom>
            <a:avLst/>
            <a:gdLst/>
            <a:ahLst/>
            <a:cxnLst/>
            <a:rect r="r" b="b" t="t" l="l"/>
            <a:pathLst>
              <a:path h="6760668" w="13570541">
                <a:moveTo>
                  <a:pt x="0" y="0"/>
                </a:moveTo>
                <a:lnTo>
                  <a:pt x="13570541" y="0"/>
                </a:lnTo>
                <a:lnTo>
                  <a:pt x="13570541" y="6760668"/>
                </a:lnTo>
                <a:lnTo>
                  <a:pt x="0" y="6760668"/>
                </a:lnTo>
                <a:lnTo>
                  <a:pt x="0" y="0"/>
                </a:lnTo>
                <a:close/>
              </a:path>
            </a:pathLst>
          </a:custGeom>
          <a:blipFill>
            <a:blip r:embed="rId4"/>
            <a:stretch>
              <a:fillRect l="0" t="0" r="0" b="0"/>
            </a:stretch>
          </a:blipFill>
        </p:spPr>
      </p:sp>
      <p:sp>
        <p:nvSpPr>
          <p:cNvPr name="TextBox 16" id="16"/>
          <p:cNvSpPr txBox="true"/>
          <p:nvPr/>
        </p:nvSpPr>
        <p:spPr>
          <a:xfrm rot="0">
            <a:off x="7509071" y="1642258"/>
            <a:ext cx="10035599" cy="891540"/>
          </a:xfrm>
          <a:prstGeom prst="rect">
            <a:avLst/>
          </a:prstGeom>
        </p:spPr>
        <p:txBody>
          <a:bodyPr anchor="t" rtlCol="false" tIns="0" lIns="0" bIns="0" rIns="0">
            <a:spAutoFit/>
          </a:bodyPr>
          <a:lstStyle/>
          <a:p>
            <a:pPr algn="ctr" marL="0" indent="0" lvl="0">
              <a:lnSpc>
                <a:spcPts val="7080"/>
              </a:lnSpc>
              <a:spcBef>
                <a:spcPct val="0"/>
              </a:spcBef>
            </a:pPr>
            <a:r>
              <a:rPr lang="en-US" b="true" sz="6000">
                <a:solidFill>
                  <a:srgbClr val="1C2011"/>
                </a:solidFill>
                <a:latin typeface="Gordita Bold"/>
                <a:ea typeface="Gordita Bold"/>
                <a:cs typeface="Gordita Bold"/>
                <a:sym typeface="Gordita Bold"/>
              </a:rPr>
              <a:t>System Architecture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AF4"/>
        </a:solidFill>
      </p:bgPr>
    </p:bg>
    <p:spTree>
      <p:nvGrpSpPr>
        <p:cNvPr id="1" name=""/>
        <p:cNvGrpSpPr/>
        <p:nvPr/>
      </p:nvGrpSpPr>
      <p:grpSpPr>
        <a:xfrm>
          <a:off x="0" y="0"/>
          <a:ext cx="0" cy="0"/>
          <a:chOff x="0" y="0"/>
          <a:chExt cx="0" cy="0"/>
        </a:xfrm>
      </p:grpSpPr>
      <p:grpSp>
        <p:nvGrpSpPr>
          <p:cNvPr name="Group 2" id="2"/>
          <p:cNvGrpSpPr/>
          <p:nvPr/>
        </p:nvGrpSpPr>
        <p:grpSpPr>
          <a:xfrm rot="0">
            <a:off x="201378" y="8866149"/>
            <a:ext cx="17885244" cy="4479624"/>
            <a:chOff x="0" y="0"/>
            <a:chExt cx="4710517" cy="1179819"/>
          </a:xfrm>
        </p:grpSpPr>
        <p:sp>
          <p:nvSpPr>
            <p:cNvPr name="Freeform 3" id="3"/>
            <p:cNvSpPr/>
            <p:nvPr/>
          </p:nvSpPr>
          <p:spPr>
            <a:xfrm flipH="false" flipV="false" rot="0">
              <a:off x="0" y="0"/>
              <a:ext cx="4710517" cy="1179819"/>
            </a:xfrm>
            <a:custGeom>
              <a:avLst/>
              <a:gdLst/>
              <a:ahLst/>
              <a:cxnLst/>
              <a:rect r="r" b="b" t="t" l="l"/>
              <a:pathLst>
                <a:path h="1179819" w="4710517">
                  <a:moveTo>
                    <a:pt x="43287" y="0"/>
                  </a:moveTo>
                  <a:lnTo>
                    <a:pt x="4667231" y="0"/>
                  </a:lnTo>
                  <a:cubicBezTo>
                    <a:pt x="4678711" y="0"/>
                    <a:pt x="4689721" y="4561"/>
                    <a:pt x="4697839" y="12678"/>
                  </a:cubicBezTo>
                  <a:cubicBezTo>
                    <a:pt x="4705957" y="20796"/>
                    <a:pt x="4710517" y="31806"/>
                    <a:pt x="4710517" y="43287"/>
                  </a:cubicBezTo>
                  <a:lnTo>
                    <a:pt x="4710517" y="1136532"/>
                  </a:lnTo>
                  <a:cubicBezTo>
                    <a:pt x="4710517" y="1148012"/>
                    <a:pt x="4705957" y="1159022"/>
                    <a:pt x="4697839" y="1167140"/>
                  </a:cubicBezTo>
                  <a:cubicBezTo>
                    <a:pt x="4689721" y="1175258"/>
                    <a:pt x="4678711" y="1179819"/>
                    <a:pt x="4667231" y="1179819"/>
                  </a:cubicBezTo>
                  <a:lnTo>
                    <a:pt x="43287" y="1179819"/>
                  </a:lnTo>
                  <a:cubicBezTo>
                    <a:pt x="31806" y="1179819"/>
                    <a:pt x="20796" y="1175258"/>
                    <a:pt x="12678" y="1167140"/>
                  </a:cubicBezTo>
                  <a:cubicBezTo>
                    <a:pt x="4561" y="1159022"/>
                    <a:pt x="0" y="1148012"/>
                    <a:pt x="0" y="1136532"/>
                  </a:cubicBezTo>
                  <a:lnTo>
                    <a:pt x="0" y="43287"/>
                  </a:lnTo>
                  <a:cubicBezTo>
                    <a:pt x="0" y="31806"/>
                    <a:pt x="4561" y="20796"/>
                    <a:pt x="12678" y="12678"/>
                  </a:cubicBezTo>
                  <a:cubicBezTo>
                    <a:pt x="20796" y="4561"/>
                    <a:pt x="31806" y="0"/>
                    <a:pt x="43287" y="0"/>
                  </a:cubicBezTo>
                  <a:close/>
                </a:path>
              </a:pathLst>
            </a:custGeom>
            <a:solidFill>
              <a:srgbClr val="8EAEF1"/>
            </a:solidFill>
          </p:spPr>
        </p:sp>
        <p:sp>
          <p:nvSpPr>
            <p:cNvPr name="TextBox 4" id="4"/>
            <p:cNvSpPr txBox="true"/>
            <p:nvPr/>
          </p:nvSpPr>
          <p:spPr>
            <a:xfrm>
              <a:off x="0" y="-19050"/>
              <a:ext cx="4710517" cy="1198869"/>
            </a:xfrm>
            <a:prstGeom prst="rect">
              <a:avLst/>
            </a:prstGeom>
          </p:spPr>
          <p:txBody>
            <a:bodyPr anchor="ctr" rtlCol="false" tIns="50800" lIns="50800" bIns="50800" rIns="50800"/>
            <a:lstStyle/>
            <a:p>
              <a:pPr algn="ctr">
                <a:lnSpc>
                  <a:spcPts val="3137"/>
                </a:lnSpc>
              </a:pPr>
            </a:p>
          </p:txBody>
        </p:sp>
      </p:grpSp>
      <p:sp>
        <p:nvSpPr>
          <p:cNvPr name="Freeform 5" id="5"/>
          <p:cNvSpPr/>
          <p:nvPr/>
        </p:nvSpPr>
        <p:spPr>
          <a:xfrm flipH="false" flipV="false" rot="0">
            <a:off x="-1229699" y="7316319"/>
            <a:ext cx="2258399" cy="2258399"/>
          </a:xfrm>
          <a:custGeom>
            <a:avLst/>
            <a:gdLst/>
            <a:ahLst/>
            <a:cxnLst/>
            <a:rect r="r" b="b" t="t" l="l"/>
            <a:pathLst>
              <a:path h="2258399" w="2258399">
                <a:moveTo>
                  <a:pt x="0" y="0"/>
                </a:moveTo>
                <a:lnTo>
                  <a:pt x="2258399" y="0"/>
                </a:lnTo>
                <a:lnTo>
                  <a:pt x="2258399" y="2258399"/>
                </a:lnTo>
                <a:lnTo>
                  <a:pt x="0" y="2258399"/>
                </a:lnTo>
                <a:lnTo>
                  <a:pt x="0" y="0"/>
                </a:lnTo>
                <a:close/>
              </a:path>
            </a:pathLst>
          </a:custGeom>
          <a:blipFill>
            <a:blip r:embed="rId2"/>
            <a:stretch>
              <a:fillRect l="0" t="0" r="0" b="0"/>
            </a:stretch>
          </a:blipFill>
          <a:ln cap="sq">
            <a:noFill/>
            <a:prstDash val="solid"/>
            <a:miter/>
          </a:ln>
        </p:spPr>
      </p:sp>
      <p:sp>
        <p:nvSpPr>
          <p:cNvPr name="Freeform 6" id="6"/>
          <p:cNvSpPr/>
          <p:nvPr/>
        </p:nvSpPr>
        <p:spPr>
          <a:xfrm flipH="false" flipV="false" rot="0">
            <a:off x="17259300" y="224661"/>
            <a:ext cx="2258399" cy="2258399"/>
          </a:xfrm>
          <a:custGeom>
            <a:avLst/>
            <a:gdLst/>
            <a:ahLst/>
            <a:cxnLst/>
            <a:rect r="r" b="b" t="t" l="l"/>
            <a:pathLst>
              <a:path h="2258399" w="2258399">
                <a:moveTo>
                  <a:pt x="0" y="0"/>
                </a:moveTo>
                <a:lnTo>
                  <a:pt x="2258399" y="0"/>
                </a:lnTo>
                <a:lnTo>
                  <a:pt x="2258399" y="2258399"/>
                </a:lnTo>
                <a:lnTo>
                  <a:pt x="0" y="2258399"/>
                </a:lnTo>
                <a:lnTo>
                  <a:pt x="0" y="0"/>
                </a:lnTo>
                <a:close/>
              </a:path>
            </a:pathLst>
          </a:custGeom>
          <a:blipFill>
            <a:blip r:embed="rId2"/>
            <a:stretch>
              <a:fillRect l="0" t="0" r="0" b="0"/>
            </a:stretch>
          </a:blipFill>
          <a:ln cap="sq">
            <a:noFill/>
            <a:prstDash val="solid"/>
            <a:miter/>
          </a:ln>
        </p:spPr>
      </p:sp>
      <p:sp>
        <p:nvSpPr>
          <p:cNvPr name="Freeform 7" id="7"/>
          <p:cNvSpPr/>
          <p:nvPr/>
        </p:nvSpPr>
        <p:spPr>
          <a:xfrm flipH="false" flipV="false" rot="0">
            <a:off x="15021845" y="9574718"/>
            <a:ext cx="2783644" cy="522207"/>
          </a:xfrm>
          <a:custGeom>
            <a:avLst/>
            <a:gdLst/>
            <a:ahLst/>
            <a:cxnLst/>
            <a:rect r="r" b="b" t="t" l="l"/>
            <a:pathLst>
              <a:path h="522207" w="2783644">
                <a:moveTo>
                  <a:pt x="0" y="0"/>
                </a:moveTo>
                <a:lnTo>
                  <a:pt x="2783644" y="0"/>
                </a:lnTo>
                <a:lnTo>
                  <a:pt x="2783644" y="522207"/>
                </a:lnTo>
                <a:lnTo>
                  <a:pt x="0" y="522207"/>
                </a:lnTo>
                <a:lnTo>
                  <a:pt x="0" y="0"/>
                </a:lnTo>
                <a:close/>
              </a:path>
            </a:pathLst>
          </a:custGeom>
          <a:blipFill>
            <a:blip r:embed="rId3"/>
            <a:stretch>
              <a:fillRect l="-59695" t="0" r="-56015" b="-1012486"/>
            </a:stretch>
          </a:blipFill>
        </p:spPr>
      </p:sp>
      <p:sp>
        <p:nvSpPr>
          <p:cNvPr name="TextBox 8" id="8"/>
          <p:cNvSpPr txBox="true"/>
          <p:nvPr/>
        </p:nvSpPr>
        <p:spPr>
          <a:xfrm rot="0">
            <a:off x="1593685" y="1047750"/>
            <a:ext cx="8960203" cy="891540"/>
          </a:xfrm>
          <a:prstGeom prst="rect">
            <a:avLst/>
          </a:prstGeom>
        </p:spPr>
        <p:txBody>
          <a:bodyPr anchor="t" rtlCol="false" tIns="0" lIns="0" bIns="0" rIns="0">
            <a:spAutoFit/>
          </a:bodyPr>
          <a:lstStyle/>
          <a:p>
            <a:pPr algn="just" marL="0" indent="0" lvl="0">
              <a:lnSpc>
                <a:spcPts val="7080"/>
              </a:lnSpc>
              <a:spcBef>
                <a:spcPct val="0"/>
              </a:spcBef>
            </a:pPr>
            <a:r>
              <a:rPr lang="en-US" b="true" sz="6000">
                <a:solidFill>
                  <a:srgbClr val="1C2011"/>
                </a:solidFill>
                <a:latin typeface="Gordita Bold"/>
                <a:ea typeface="Gordita Bold"/>
                <a:cs typeface="Gordita Bold"/>
                <a:sym typeface="Gordita Bold"/>
              </a:rPr>
              <a:t>Tech Stack</a:t>
            </a:r>
          </a:p>
        </p:txBody>
      </p:sp>
      <p:sp>
        <p:nvSpPr>
          <p:cNvPr name="Freeform 9" id="9"/>
          <p:cNvSpPr/>
          <p:nvPr/>
        </p:nvSpPr>
        <p:spPr>
          <a:xfrm flipH="false" flipV="false" rot="0">
            <a:off x="1834333" y="3092720"/>
            <a:ext cx="681927" cy="696733"/>
          </a:xfrm>
          <a:custGeom>
            <a:avLst/>
            <a:gdLst/>
            <a:ahLst/>
            <a:cxnLst/>
            <a:rect r="r" b="b" t="t" l="l"/>
            <a:pathLst>
              <a:path h="696733" w="681927">
                <a:moveTo>
                  <a:pt x="0" y="0"/>
                </a:moveTo>
                <a:lnTo>
                  <a:pt x="681927" y="0"/>
                </a:lnTo>
                <a:lnTo>
                  <a:pt x="681927" y="696733"/>
                </a:lnTo>
                <a:lnTo>
                  <a:pt x="0" y="6967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2780027" y="2953354"/>
            <a:ext cx="6574265" cy="407576"/>
          </a:xfrm>
          <a:prstGeom prst="rect">
            <a:avLst/>
          </a:prstGeom>
        </p:spPr>
        <p:txBody>
          <a:bodyPr anchor="t" rtlCol="false" tIns="0" lIns="0" bIns="0" rIns="0">
            <a:spAutoFit/>
          </a:bodyPr>
          <a:lstStyle/>
          <a:p>
            <a:pPr algn="l" marL="0" indent="0" lvl="0">
              <a:lnSpc>
                <a:spcPts val="3249"/>
              </a:lnSpc>
              <a:spcBef>
                <a:spcPct val="0"/>
              </a:spcBef>
            </a:pPr>
            <a:r>
              <a:rPr lang="en-US" b="true" sz="2599">
                <a:solidFill>
                  <a:srgbClr val="1C2011"/>
                </a:solidFill>
                <a:latin typeface="Gordita Bold"/>
                <a:ea typeface="Gordita Bold"/>
                <a:cs typeface="Gordita Bold"/>
                <a:sym typeface="Gordita Bold"/>
              </a:rPr>
              <a:t>FrontEnd</a:t>
            </a:r>
          </a:p>
        </p:txBody>
      </p:sp>
      <p:sp>
        <p:nvSpPr>
          <p:cNvPr name="TextBox 11" id="11"/>
          <p:cNvSpPr txBox="true"/>
          <p:nvPr/>
        </p:nvSpPr>
        <p:spPr>
          <a:xfrm rot="0">
            <a:off x="2516260" y="3779928"/>
            <a:ext cx="3352849" cy="1857747"/>
          </a:xfrm>
          <a:prstGeom prst="rect">
            <a:avLst/>
          </a:prstGeom>
        </p:spPr>
        <p:txBody>
          <a:bodyPr anchor="t" rtlCol="false" tIns="0" lIns="0" bIns="0" rIns="0">
            <a:spAutoFit/>
          </a:bodyPr>
          <a:lstStyle/>
          <a:p>
            <a:pPr algn="l" marL="635068" indent="-317534" lvl="1">
              <a:lnSpc>
                <a:spcPts val="3676"/>
              </a:lnSpc>
              <a:buFont typeface="Arial"/>
              <a:buChar char="•"/>
            </a:pPr>
            <a:r>
              <a:rPr lang="en-US" sz="2941" spc="167">
                <a:solidFill>
                  <a:srgbClr val="1C2011"/>
                </a:solidFill>
                <a:latin typeface="Gordita"/>
                <a:ea typeface="Gordita"/>
                <a:cs typeface="Gordita"/>
                <a:sym typeface="Gordita"/>
              </a:rPr>
              <a:t>React.js </a:t>
            </a:r>
          </a:p>
          <a:p>
            <a:pPr algn="l" marL="635068" indent="-317534" lvl="1">
              <a:lnSpc>
                <a:spcPts val="3676"/>
              </a:lnSpc>
              <a:buFont typeface="Arial"/>
              <a:buChar char="•"/>
            </a:pPr>
            <a:r>
              <a:rPr lang="en-US" sz="2941" spc="167">
                <a:solidFill>
                  <a:srgbClr val="1C2011"/>
                </a:solidFill>
                <a:latin typeface="Gordita"/>
                <a:ea typeface="Gordita"/>
                <a:cs typeface="Gordita"/>
                <a:sym typeface="Gordita"/>
              </a:rPr>
              <a:t>HTML</a:t>
            </a:r>
          </a:p>
          <a:p>
            <a:pPr algn="l" marL="635068" indent="-317534" lvl="1">
              <a:lnSpc>
                <a:spcPts val="3676"/>
              </a:lnSpc>
              <a:buFont typeface="Arial"/>
              <a:buChar char="•"/>
            </a:pPr>
            <a:r>
              <a:rPr lang="en-US" sz="2941" spc="167">
                <a:solidFill>
                  <a:srgbClr val="1C2011"/>
                </a:solidFill>
                <a:latin typeface="Gordita"/>
                <a:ea typeface="Gordita"/>
                <a:cs typeface="Gordita"/>
                <a:sym typeface="Gordita"/>
              </a:rPr>
              <a:t>CSS</a:t>
            </a:r>
          </a:p>
          <a:p>
            <a:pPr algn="l" marL="635068" indent="-317534" lvl="1">
              <a:lnSpc>
                <a:spcPts val="3676"/>
              </a:lnSpc>
              <a:spcBef>
                <a:spcPct val="0"/>
              </a:spcBef>
              <a:buFont typeface="Arial"/>
              <a:buChar char="•"/>
            </a:pPr>
            <a:r>
              <a:rPr lang="en-US" sz="2941" spc="167">
                <a:solidFill>
                  <a:srgbClr val="1C2011"/>
                </a:solidFill>
                <a:latin typeface="Gordita"/>
                <a:ea typeface="Gordita"/>
                <a:cs typeface="Gordita"/>
                <a:sym typeface="Gordita"/>
              </a:rPr>
              <a:t>JavaScript </a:t>
            </a:r>
          </a:p>
        </p:txBody>
      </p:sp>
      <p:sp>
        <p:nvSpPr>
          <p:cNvPr name="Freeform 12" id="12"/>
          <p:cNvSpPr/>
          <p:nvPr/>
        </p:nvSpPr>
        <p:spPr>
          <a:xfrm flipH="false" flipV="false" rot="0">
            <a:off x="7300572" y="3092720"/>
            <a:ext cx="681927" cy="696733"/>
          </a:xfrm>
          <a:custGeom>
            <a:avLst/>
            <a:gdLst/>
            <a:ahLst/>
            <a:cxnLst/>
            <a:rect r="r" b="b" t="t" l="l"/>
            <a:pathLst>
              <a:path h="696733" w="681927">
                <a:moveTo>
                  <a:pt x="0" y="0"/>
                </a:moveTo>
                <a:lnTo>
                  <a:pt x="681927" y="0"/>
                </a:lnTo>
                <a:lnTo>
                  <a:pt x="681927" y="696733"/>
                </a:lnTo>
                <a:lnTo>
                  <a:pt x="0" y="6967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8246266" y="2953354"/>
            <a:ext cx="6574265" cy="407576"/>
          </a:xfrm>
          <a:prstGeom prst="rect">
            <a:avLst/>
          </a:prstGeom>
        </p:spPr>
        <p:txBody>
          <a:bodyPr anchor="t" rtlCol="false" tIns="0" lIns="0" bIns="0" rIns="0">
            <a:spAutoFit/>
          </a:bodyPr>
          <a:lstStyle/>
          <a:p>
            <a:pPr algn="l" marL="0" indent="0" lvl="0">
              <a:lnSpc>
                <a:spcPts val="3249"/>
              </a:lnSpc>
              <a:spcBef>
                <a:spcPct val="0"/>
              </a:spcBef>
            </a:pPr>
            <a:r>
              <a:rPr lang="en-US" b="true" sz="2599">
                <a:solidFill>
                  <a:srgbClr val="1C2011"/>
                </a:solidFill>
                <a:latin typeface="Gordita Bold"/>
                <a:ea typeface="Gordita Bold"/>
                <a:cs typeface="Gordita Bold"/>
                <a:sym typeface="Gordita Bold"/>
              </a:rPr>
              <a:t>BackEnd</a:t>
            </a:r>
          </a:p>
        </p:txBody>
      </p:sp>
      <p:sp>
        <p:nvSpPr>
          <p:cNvPr name="TextBox 14" id="14"/>
          <p:cNvSpPr txBox="true"/>
          <p:nvPr/>
        </p:nvSpPr>
        <p:spPr>
          <a:xfrm rot="0">
            <a:off x="8246266" y="3779928"/>
            <a:ext cx="3352849" cy="1857747"/>
          </a:xfrm>
          <a:prstGeom prst="rect">
            <a:avLst/>
          </a:prstGeom>
        </p:spPr>
        <p:txBody>
          <a:bodyPr anchor="t" rtlCol="false" tIns="0" lIns="0" bIns="0" rIns="0">
            <a:spAutoFit/>
          </a:bodyPr>
          <a:lstStyle/>
          <a:p>
            <a:pPr algn="l" marL="635068" indent="-317534" lvl="1">
              <a:lnSpc>
                <a:spcPts val="3676"/>
              </a:lnSpc>
              <a:buFont typeface="Arial"/>
              <a:buChar char="•"/>
            </a:pPr>
            <a:r>
              <a:rPr lang="en-US" sz="2941" spc="167">
                <a:solidFill>
                  <a:srgbClr val="1C2011"/>
                </a:solidFill>
                <a:latin typeface="Gordita"/>
                <a:ea typeface="Gordita"/>
                <a:cs typeface="Gordita"/>
                <a:sym typeface="Gordita"/>
              </a:rPr>
              <a:t>Node.js</a:t>
            </a:r>
          </a:p>
          <a:p>
            <a:pPr algn="l" marL="635068" indent="-317534" lvl="1">
              <a:lnSpc>
                <a:spcPts val="3676"/>
              </a:lnSpc>
              <a:buFont typeface="Arial"/>
              <a:buChar char="•"/>
            </a:pPr>
            <a:r>
              <a:rPr lang="en-US" sz="2941" spc="167">
                <a:solidFill>
                  <a:srgbClr val="1C2011"/>
                </a:solidFill>
                <a:latin typeface="Gordita"/>
                <a:ea typeface="Gordita"/>
                <a:cs typeface="Gordita"/>
                <a:sym typeface="Gordita"/>
              </a:rPr>
              <a:t>Express.js</a:t>
            </a:r>
          </a:p>
          <a:p>
            <a:pPr algn="l" marL="635068" indent="-317534" lvl="1">
              <a:lnSpc>
                <a:spcPts val="3676"/>
              </a:lnSpc>
              <a:buFont typeface="Arial"/>
              <a:buChar char="•"/>
            </a:pPr>
            <a:r>
              <a:rPr lang="en-US" sz="2941" spc="167">
                <a:solidFill>
                  <a:srgbClr val="1C2011"/>
                </a:solidFill>
                <a:latin typeface="Gordita"/>
                <a:ea typeface="Gordita"/>
                <a:cs typeface="Gordita"/>
                <a:sym typeface="Gordita"/>
              </a:rPr>
              <a:t>MongoDb</a:t>
            </a:r>
          </a:p>
          <a:p>
            <a:pPr algn="l" marL="635068" indent="-317534" lvl="1">
              <a:lnSpc>
                <a:spcPts val="3676"/>
              </a:lnSpc>
              <a:spcBef>
                <a:spcPct val="0"/>
              </a:spcBef>
              <a:buFont typeface="Arial"/>
              <a:buChar char="•"/>
            </a:pPr>
            <a:r>
              <a:rPr lang="en-US" sz="2941" spc="167">
                <a:solidFill>
                  <a:srgbClr val="1C2011"/>
                </a:solidFill>
                <a:latin typeface="Gordita"/>
                <a:ea typeface="Gordita"/>
                <a:cs typeface="Gordita"/>
                <a:sym typeface="Gordita"/>
              </a:rPr>
              <a:t>REST API</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AF4"/>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670818" y="6260247"/>
            <a:ext cx="2872289" cy="5744579"/>
          </a:xfrm>
          <a:custGeom>
            <a:avLst/>
            <a:gdLst/>
            <a:ahLst/>
            <a:cxnLst/>
            <a:rect r="r" b="b" t="t" l="l"/>
            <a:pathLst>
              <a:path h="5744579" w="2872289">
                <a:moveTo>
                  <a:pt x="0" y="0"/>
                </a:moveTo>
                <a:lnTo>
                  <a:pt x="2872289" y="0"/>
                </a:lnTo>
                <a:lnTo>
                  <a:pt x="2872289" y="5744579"/>
                </a:lnTo>
                <a:lnTo>
                  <a:pt x="0" y="5744579"/>
                </a:lnTo>
                <a:lnTo>
                  <a:pt x="0" y="0"/>
                </a:lnTo>
                <a:close/>
              </a:path>
            </a:pathLst>
          </a:custGeom>
          <a:blipFill>
            <a:blip r:embed="rId2"/>
            <a:stretch>
              <a:fillRect l="0" t="0" r="0" b="0"/>
            </a:stretch>
          </a:blipFill>
          <a:ln cap="sq">
            <a:noFill/>
            <a:prstDash val="solid"/>
            <a:miter/>
          </a:ln>
        </p:spPr>
      </p:sp>
      <p:grpSp>
        <p:nvGrpSpPr>
          <p:cNvPr name="Group 3" id="3"/>
          <p:cNvGrpSpPr/>
          <p:nvPr/>
        </p:nvGrpSpPr>
        <p:grpSpPr>
          <a:xfrm rot="0">
            <a:off x="-120374" y="-1067960"/>
            <a:ext cx="17885244" cy="3356457"/>
            <a:chOff x="0" y="0"/>
            <a:chExt cx="4710517" cy="884005"/>
          </a:xfrm>
        </p:grpSpPr>
        <p:sp>
          <p:nvSpPr>
            <p:cNvPr name="Freeform 4" id="4"/>
            <p:cNvSpPr/>
            <p:nvPr/>
          </p:nvSpPr>
          <p:spPr>
            <a:xfrm flipH="false" flipV="false" rot="0">
              <a:off x="0" y="0"/>
              <a:ext cx="4710517" cy="884005"/>
            </a:xfrm>
            <a:custGeom>
              <a:avLst/>
              <a:gdLst/>
              <a:ahLst/>
              <a:cxnLst/>
              <a:rect r="r" b="b" t="t" l="l"/>
              <a:pathLst>
                <a:path h="884005" w="4710517">
                  <a:moveTo>
                    <a:pt x="43287" y="0"/>
                  </a:moveTo>
                  <a:lnTo>
                    <a:pt x="4667231" y="0"/>
                  </a:lnTo>
                  <a:cubicBezTo>
                    <a:pt x="4678711" y="0"/>
                    <a:pt x="4689721" y="4561"/>
                    <a:pt x="4697839" y="12678"/>
                  </a:cubicBezTo>
                  <a:cubicBezTo>
                    <a:pt x="4705957" y="20796"/>
                    <a:pt x="4710517" y="31806"/>
                    <a:pt x="4710517" y="43287"/>
                  </a:cubicBezTo>
                  <a:lnTo>
                    <a:pt x="4710517" y="840719"/>
                  </a:lnTo>
                  <a:cubicBezTo>
                    <a:pt x="4710517" y="852199"/>
                    <a:pt x="4705957" y="863209"/>
                    <a:pt x="4697839" y="871327"/>
                  </a:cubicBezTo>
                  <a:cubicBezTo>
                    <a:pt x="4689721" y="879445"/>
                    <a:pt x="4678711" y="884005"/>
                    <a:pt x="4667231" y="884005"/>
                  </a:cubicBezTo>
                  <a:lnTo>
                    <a:pt x="43287" y="884005"/>
                  </a:lnTo>
                  <a:cubicBezTo>
                    <a:pt x="31806" y="884005"/>
                    <a:pt x="20796" y="879445"/>
                    <a:pt x="12678" y="871327"/>
                  </a:cubicBezTo>
                  <a:cubicBezTo>
                    <a:pt x="4561" y="863209"/>
                    <a:pt x="0" y="852199"/>
                    <a:pt x="0" y="840719"/>
                  </a:cubicBezTo>
                  <a:lnTo>
                    <a:pt x="0" y="43287"/>
                  </a:lnTo>
                  <a:cubicBezTo>
                    <a:pt x="0" y="31806"/>
                    <a:pt x="4561" y="20796"/>
                    <a:pt x="12678" y="12678"/>
                  </a:cubicBezTo>
                  <a:cubicBezTo>
                    <a:pt x="20796" y="4561"/>
                    <a:pt x="31806" y="0"/>
                    <a:pt x="43287" y="0"/>
                  </a:cubicBezTo>
                  <a:close/>
                </a:path>
              </a:pathLst>
            </a:custGeom>
            <a:solidFill>
              <a:srgbClr val="8EAEF1"/>
            </a:solidFill>
          </p:spPr>
        </p:sp>
        <p:sp>
          <p:nvSpPr>
            <p:cNvPr name="TextBox 5" id="5"/>
            <p:cNvSpPr txBox="true"/>
            <p:nvPr/>
          </p:nvSpPr>
          <p:spPr>
            <a:xfrm>
              <a:off x="0" y="-19050"/>
              <a:ext cx="4710517" cy="903055"/>
            </a:xfrm>
            <a:prstGeom prst="rect">
              <a:avLst/>
            </a:prstGeom>
          </p:spPr>
          <p:txBody>
            <a:bodyPr anchor="ctr" rtlCol="false" tIns="50800" lIns="50800" bIns="50800" rIns="50800"/>
            <a:lstStyle/>
            <a:p>
              <a:pPr algn="ctr">
                <a:lnSpc>
                  <a:spcPts val="3137"/>
                </a:lnSpc>
              </a:pPr>
            </a:p>
          </p:txBody>
        </p:sp>
      </p:grpSp>
      <p:sp>
        <p:nvSpPr>
          <p:cNvPr name="Freeform 6" id="6"/>
          <p:cNvSpPr/>
          <p:nvPr/>
        </p:nvSpPr>
        <p:spPr>
          <a:xfrm flipH="false" flipV="false" rot="0">
            <a:off x="1939776" y="3428021"/>
            <a:ext cx="681927" cy="696733"/>
          </a:xfrm>
          <a:custGeom>
            <a:avLst/>
            <a:gdLst/>
            <a:ahLst/>
            <a:cxnLst/>
            <a:rect r="r" b="b" t="t" l="l"/>
            <a:pathLst>
              <a:path h="696733" w="681927">
                <a:moveTo>
                  <a:pt x="0" y="0"/>
                </a:moveTo>
                <a:lnTo>
                  <a:pt x="681927" y="0"/>
                </a:lnTo>
                <a:lnTo>
                  <a:pt x="681927" y="696733"/>
                </a:lnTo>
                <a:lnTo>
                  <a:pt x="0" y="69673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5400000">
            <a:off x="764112" y="71850"/>
            <a:ext cx="3033254" cy="631089"/>
          </a:xfrm>
          <a:custGeom>
            <a:avLst/>
            <a:gdLst/>
            <a:ahLst/>
            <a:cxnLst/>
            <a:rect r="r" b="b" t="t" l="l"/>
            <a:pathLst>
              <a:path h="631089" w="3033254">
                <a:moveTo>
                  <a:pt x="0" y="0"/>
                </a:moveTo>
                <a:lnTo>
                  <a:pt x="3033254" y="0"/>
                </a:lnTo>
                <a:lnTo>
                  <a:pt x="3033254" y="631088"/>
                </a:lnTo>
                <a:lnTo>
                  <a:pt x="0" y="631088"/>
                </a:lnTo>
                <a:lnTo>
                  <a:pt x="0" y="0"/>
                </a:lnTo>
                <a:close/>
              </a:path>
            </a:pathLst>
          </a:custGeom>
          <a:blipFill>
            <a:blip r:embed="rId5">
              <a:extLst>
                <a:ext uri="{96DAC541-7B7A-43D3-8B79-37D633B846F1}">
                  <asvg:svgBlip xmlns:asvg="http://schemas.microsoft.com/office/drawing/2016/SVG/main" r:embed="rId6"/>
                </a:ext>
              </a:extLst>
            </a:blip>
            <a:stretch>
              <a:fillRect l="0" t="0" r="0" b="-190322"/>
            </a:stretch>
          </a:blipFill>
        </p:spPr>
      </p:sp>
      <p:sp>
        <p:nvSpPr>
          <p:cNvPr name="Freeform 8" id="8"/>
          <p:cNvSpPr/>
          <p:nvPr/>
        </p:nvSpPr>
        <p:spPr>
          <a:xfrm flipH="false" flipV="false" rot="5400000">
            <a:off x="15742673" y="8627211"/>
            <a:ext cx="3033254" cy="631089"/>
          </a:xfrm>
          <a:custGeom>
            <a:avLst/>
            <a:gdLst/>
            <a:ahLst/>
            <a:cxnLst/>
            <a:rect r="r" b="b" t="t" l="l"/>
            <a:pathLst>
              <a:path h="631089" w="3033254">
                <a:moveTo>
                  <a:pt x="0" y="0"/>
                </a:moveTo>
                <a:lnTo>
                  <a:pt x="3033254" y="0"/>
                </a:lnTo>
                <a:lnTo>
                  <a:pt x="3033254" y="631089"/>
                </a:lnTo>
                <a:lnTo>
                  <a:pt x="0" y="631089"/>
                </a:lnTo>
                <a:lnTo>
                  <a:pt x="0" y="0"/>
                </a:lnTo>
                <a:close/>
              </a:path>
            </a:pathLst>
          </a:custGeom>
          <a:blipFill>
            <a:blip r:embed="rId5">
              <a:extLst>
                <a:ext uri="{96DAC541-7B7A-43D3-8B79-37D633B846F1}">
                  <asvg:svgBlip xmlns:asvg="http://schemas.microsoft.com/office/drawing/2016/SVG/main" r:embed="rId6"/>
                </a:ext>
              </a:extLst>
            </a:blip>
            <a:stretch>
              <a:fillRect l="0" t="0" r="0" b="-190322"/>
            </a:stretch>
          </a:blipFill>
        </p:spPr>
      </p:sp>
      <p:sp>
        <p:nvSpPr>
          <p:cNvPr name="TextBox 9" id="9"/>
          <p:cNvSpPr txBox="true"/>
          <p:nvPr/>
        </p:nvSpPr>
        <p:spPr>
          <a:xfrm rot="0">
            <a:off x="4659874" y="887090"/>
            <a:ext cx="8968252" cy="891540"/>
          </a:xfrm>
          <a:prstGeom prst="rect">
            <a:avLst/>
          </a:prstGeom>
        </p:spPr>
        <p:txBody>
          <a:bodyPr anchor="t" rtlCol="false" tIns="0" lIns="0" bIns="0" rIns="0">
            <a:spAutoFit/>
          </a:bodyPr>
          <a:lstStyle/>
          <a:p>
            <a:pPr algn="just" marL="0" indent="0" lvl="0">
              <a:lnSpc>
                <a:spcPts val="7080"/>
              </a:lnSpc>
              <a:spcBef>
                <a:spcPct val="0"/>
              </a:spcBef>
            </a:pPr>
            <a:r>
              <a:rPr lang="en-US" b="true" sz="6000">
                <a:solidFill>
                  <a:srgbClr val="1C2011"/>
                </a:solidFill>
                <a:latin typeface="Gordita Bold"/>
                <a:ea typeface="Gordita Bold"/>
                <a:cs typeface="Gordita Bold"/>
                <a:sym typeface="Gordita Bold"/>
              </a:rPr>
              <a:t>Module-wise Services</a:t>
            </a:r>
          </a:p>
        </p:txBody>
      </p:sp>
      <p:sp>
        <p:nvSpPr>
          <p:cNvPr name="TextBox 10" id="10"/>
          <p:cNvSpPr txBox="true"/>
          <p:nvPr/>
        </p:nvSpPr>
        <p:spPr>
          <a:xfrm rot="0">
            <a:off x="7162770" y="3351156"/>
            <a:ext cx="6192807" cy="301625"/>
          </a:xfrm>
          <a:prstGeom prst="rect">
            <a:avLst/>
          </a:prstGeom>
        </p:spPr>
        <p:txBody>
          <a:bodyPr anchor="t" rtlCol="false" tIns="0" lIns="0" bIns="0" rIns="0">
            <a:spAutoFit/>
          </a:bodyPr>
          <a:lstStyle/>
          <a:p>
            <a:pPr algn="l">
              <a:lnSpc>
                <a:spcPts val="2499"/>
              </a:lnSpc>
              <a:spcBef>
                <a:spcPct val="0"/>
              </a:spcBef>
            </a:pPr>
            <a:r>
              <a:rPr lang="en-US" sz="1999" spc="113">
                <a:solidFill>
                  <a:srgbClr val="1C2011"/>
                </a:solidFill>
                <a:latin typeface="Gordita"/>
                <a:ea typeface="Gordita"/>
                <a:cs typeface="Gordita"/>
                <a:sym typeface="Gordita"/>
              </a:rPr>
              <a:t>registration, login, booking appointments. </a:t>
            </a:r>
          </a:p>
        </p:txBody>
      </p:sp>
      <p:sp>
        <p:nvSpPr>
          <p:cNvPr name="TextBox 11" id="11"/>
          <p:cNvSpPr txBox="true"/>
          <p:nvPr/>
        </p:nvSpPr>
        <p:spPr>
          <a:xfrm rot="0">
            <a:off x="2885469" y="3288655"/>
            <a:ext cx="4010600" cy="407576"/>
          </a:xfrm>
          <a:prstGeom prst="rect">
            <a:avLst/>
          </a:prstGeom>
        </p:spPr>
        <p:txBody>
          <a:bodyPr anchor="t" rtlCol="false" tIns="0" lIns="0" bIns="0" rIns="0">
            <a:spAutoFit/>
          </a:bodyPr>
          <a:lstStyle/>
          <a:p>
            <a:pPr algn="l" marL="0" indent="0" lvl="0">
              <a:lnSpc>
                <a:spcPts val="3249"/>
              </a:lnSpc>
              <a:spcBef>
                <a:spcPct val="0"/>
              </a:spcBef>
            </a:pPr>
            <a:r>
              <a:rPr lang="en-US" b="true" sz="2599">
                <a:solidFill>
                  <a:srgbClr val="1C2011"/>
                </a:solidFill>
                <a:latin typeface="Gordita Bold"/>
                <a:ea typeface="Gordita Bold"/>
                <a:cs typeface="Gordita Bold"/>
                <a:sym typeface="Gordita Bold"/>
              </a:rPr>
              <a:t>Us</a:t>
            </a:r>
            <a:r>
              <a:rPr lang="en-US" b="true" sz="2599" strike="noStrike" u="none">
                <a:solidFill>
                  <a:srgbClr val="1C2011"/>
                </a:solidFill>
                <a:latin typeface="Gordita Bold"/>
                <a:ea typeface="Gordita Bold"/>
                <a:cs typeface="Gordita Bold"/>
                <a:sym typeface="Gordita Bold"/>
              </a:rPr>
              <a:t>er Module</a:t>
            </a:r>
            <a:r>
              <a:rPr lang="en-US" b="true" sz="2599" strike="noStrike" u="none">
                <a:solidFill>
                  <a:srgbClr val="1C2011"/>
                </a:solidFill>
                <a:latin typeface="Gordita Bold"/>
                <a:ea typeface="Gordita Bold"/>
                <a:cs typeface="Gordita Bold"/>
                <a:sym typeface="Gordita Bold"/>
              </a:rPr>
              <a:t> Services - </a:t>
            </a:r>
          </a:p>
        </p:txBody>
      </p:sp>
      <p:sp>
        <p:nvSpPr>
          <p:cNvPr name="Freeform 12" id="12"/>
          <p:cNvSpPr/>
          <p:nvPr/>
        </p:nvSpPr>
        <p:spPr>
          <a:xfrm flipH="false" flipV="false" rot="0">
            <a:off x="1939776" y="4394653"/>
            <a:ext cx="681927" cy="696733"/>
          </a:xfrm>
          <a:custGeom>
            <a:avLst/>
            <a:gdLst/>
            <a:ahLst/>
            <a:cxnLst/>
            <a:rect r="r" b="b" t="t" l="l"/>
            <a:pathLst>
              <a:path h="696733" w="681927">
                <a:moveTo>
                  <a:pt x="0" y="0"/>
                </a:moveTo>
                <a:lnTo>
                  <a:pt x="681927" y="0"/>
                </a:lnTo>
                <a:lnTo>
                  <a:pt x="681927" y="696733"/>
                </a:lnTo>
                <a:lnTo>
                  <a:pt x="0" y="69673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7779548" y="4369493"/>
            <a:ext cx="6192807" cy="301625"/>
          </a:xfrm>
          <a:prstGeom prst="rect">
            <a:avLst/>
          </a:prstGeom>
        </p:spPr>
        <p:txBody>
          <a:bodyPr anchor="t" rtlCol="false" tIns="0" lIns="0" bIns="0" rIns="0">
            <a:spAutoFit/>
          </a:bodyPr>
          <a:lstStyle/>
          <a:p>
            <a:pPr algn="l">
              <a:lnSpc>
                <a:spcPts val="2499"/>
              </a:lnSpc>
              <a:spcBef>
                <a:spcPct val="0"/>
              </a:spcBef>
            </a:pPr>
            <a:r>
              <a:rPr lang="en-US" sz="1999" spc="113">
                <a:solidFill>
                  <a:srgbClr val="1C2011"/>
                </a:solidFill>
                <a:latin typeface="Gordita"/>
                <a:ea typeface="Gordita"/>
                <a:cs typeface="Gordita"/>
                <a:sym typeface="Gordita"/>
              </a:rPr>
              <a:t>manage provider details and availability. </a:t>
            </a:r>
          </a:p>
        </p:txBody>
      </p:sp>
      <p:sp>
        <p:nvSpPr>
          <p:cNvPr name="TextBox 14" id="14"/>
          <p:cNvSpPr txBox="true"/>
          <p:nvPr/>
        </p:nvSpPr>
        <p:spPr>
          <a:xfrm rot="0">
            <a:off x="2885469" y="4255287"/>
            <a:ext cx="5703182" cy="812611"/>
          </a:xfrm>
          <a:prstGeom prst="rect">
            <a:avLst/>
          </a:prstGeom>
        </p:spPr>
        <p:txBody>
          <a:bodyPr anchor="t" rtlCol="false" tIns="0" lIns="0" bIns="0" rIns="0">
            <a:spAutoFit/>
          </a:bodyPr>
          <a:lstStyle/>
          <a:p>
            <a:pPr algn="l">
              <a:lnSpc>
                <a:spcPts val="3249"/>
              </a:lnSpc>
              <a:spcBef>
                <a:spcPct val="0"/>
              </a:spcBef>
            </a:pPr>
            <a:r>
              <a:rPr lang="en-US" b="true" sz="2599">
                <a:solidFill>
                  <a:srgbClr val="1C2011"/>
                </a:solidFill>
                <a:latin typeface="Gordita Bold"/>
                <a:ea typeface="Gordita Bold"/>
                <a:cs typeface="Gordita Bold"/>
                <a:sym typeface="Gordita Bold"/>
              </a:rPr>
              <a:t>Provid</a:t>
            </a:r>
            <a:r>
              <a:rPr lang="en-US" b="true" sz="2599" strike="noStrike" u="none">
                <a:solidFill>
                  <a:srgbClr val="1C2011"/>
                </a:solidFill>
                <a:latin typeface="Gordita Bold"/>
                <a:ea typeface="Gordita Bold"/>
                <a:cs typeface="Gordita Bold"/>
                <a:sym typeface="Gordita Bold"/>
              </a:rPr>
              <a:t>er Module Services - </a:t>
            </a:r>
          </a:p>
          <a:p>
            <a:pPr algn="l" marL="0" indent="0" lvl="0">
              <a:lnSpc>
                <a:spcPts val="3249"/>
              </a:lnSpc>
              <a:spcBef>
                <a:spcPct val="0"/>
              </a:spcBef>
            </a:pPr>
          </a:p>
        </p:txBody>
      </p:sp>
      <p:sp>
        <p:nvSpPr>
          <p:cNvPr name="Freeform 15" id="15"/>
          <p:cNvSpPr/>
          <p:nvPr/>
        </p:nvSpPr>
        <p:spPr>
          <a:xfrm flipH="false" flipV="false" rot="0">
            <a:off x="1939776" y="5478402"/>
            <a:ext cx="681927" cy="696733"/>
          </a:xfrm>
          <a:custGeom>
            <a:avLst/>
            <a:gdLst/>
            <a:ahLst/>
            <a:cxnLst/>
            <a:rect r="r" b="b" t="t" l="l"/>
            <a:pathLst>
              <a:path h="696733" w="681927">
                <a:moveTo>
                  <a:pt x="0" y="0"/>
                </a:moveTo>
                <a:lnTo>
                  <a:pt x="681927" y="0"/>
                </a:lnTo>
                <a:lnTo>
                  <a:pt x="681927" y="696732"/>
                </a:lnTo>
                <a:lnTo>
                  <a:pt x="0" y="69673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6" id="16"/>
          <p:cNvSpPr txBox="true"/>
          <p:nvPr/>
        </p:nvSpPr>
        <p:spPr>
          <a:xfrm rot="0">
            <a:off x="7759169" y="5401536"/>
            <a:ext cx="6963459" cy="301625"/>
          </a:xfrm>
          <a:prstGeom prst="rect">
            <a:avLst/>
          </a:prstGeom>
        </p:spPr>
        <p:txBody>
          <a:bodyPr anchor="t" rtlCol="false" tIns="0" lIns="0" bIns="0" rIns="0">
            <a:spAutoFit/>
          </a:bodyPr>
          <a:lstStyle/>
          <a:p>
            <a:pPr algn="l">
              <a:lnSpc>
                <a:spcPts val="2499"/>
              </a:lnSpc>
              <a:spcBef>
                <a:spcPct val="0"/>
              </a:spcBef>
            </a:pPr>
            <a:r>
              <a:rPr lang="en-US" sz="1999" spc="113">
                <a:solidFill>
                  <a:srgbClr val="1C2011"/>
                </a:solidFill>
                <a:latin typeface="Gordita"/>
                <a:ea typeface="Gordita"/>
                <a:cs typeface="Gordita"/>
                <a:sym typeface="Gordita"/>
              </a:rPr>
              <a:t> handles scheduling and appointment records. </a:t>
            </a:r>
          </a:p>
        </p:txBody>
      </p:sp>
      <p:sp>
        <p:nvSpPr>
          <p:cNvPr name="TextBox 17" id="17"/>
          <p:cNvSpPr txBox="true"/>
          <p:nvPr/>
        </p:nvSpPr>
        <p:spPr>
          <a:xfrm rot="0">
            <a:off x="2885469" y="5339036"/>
            <a:ext cx="4894078" cy="407576"/>
          </a:xfrm>
          <a:prstGeom prst="rect">
            <a:avLst/>
          </a:prstGeom>
        </p:spPr>
        <p:txBody>
          <a:bodyPr anchor="t" rtlCol="false" tIns="0" lIns="0" bIns="0" rIns="0">
            <a:spAutoFit/>
          </a:bodyPr>
          <a:lstStyle/>
          <a:p>
            <a:pPr algn="l" marL="0" indent="0" lvl="0">
              <a:lnSpc>
                <a:spcPts val="3249"/>
              </a:lnSpc>
              <a:spcBef>
                <a:spcPct val="0"/>
              </a:spcBef>
            </a:pPr>
            <a:r>
              <a:rPr lang="en-US" b="true" sz="2599">
                <a:solidFill>
                  <a:srgbClr val="1C2011"/>
                </a:solidFill>
                <a:latin typeface="Gordita Bold"/>
                <a:ea typeface="Gordita Bold"/>
                <a:cs typeface="Gordita Bold"/>
                <a:sym typeface="Gordita Bold"/>
              </a:rPr>
              <a:t>Booking Module Services</a:t>
            </a:r>
            <a:r>
              <a:rPr lang="en-US" b="true" sz="2599" strike="noStrike" u="none">
                <a:solidFill>
                  <a:srgbClr val="1C2011"/>
                </a:solidFill>
                <a:latin typeface="Gordita Bold"/>
                <a:ea typeface="Gordita Bold"/>
                <a:cs typeface="Gordita Bold"/>
                <a:sym typeface="Gordita Bold"/>
              </a:rPr>
              <a:t> </a:t>
            </a:r>
            <a:r>
              <a:rPr lang="en-US" b="true" sz="2599" strike="noStrike" u="none">
                <a:solidFill>
                  <a:srgbClr val="1C2011"/>
                </a:solidFill>
                <a:latin typeface="Gordita Bold"/>
                <a:ea typeface="Gordita Bold"/>
                <a:cs typeface="Gordita Bold"/>
                <a:sym typeface="Gordita Bold"/>
              </a:rPr>
              <a:t>- </a:t>
            </a:r>
          </a:p>
        </p:txBody>
      </p:sp>
      <p:sp>
        <p:nvSpPr>
          <p:cNvPr name="Freeform 18" id="18"/>
          <p:cNvSpPr/>
          <p:nvPr/>
        </p:nvSpPr>
        <p:spPr>
          <a:xfrm flipH="false" flipV="false" rot="0">
            <a:off x="1939776" y="6445034"/>
            <a:ext cx="681927" cy="696733"/>
          </a:xfrm>
          <a:custGeom>
            <a:avLst/>
            <a:gdLst/>
            <a:ahLst/>
            <a:cxnLst/>
            <a:rect r="r" b="b" t="t" l="l"/>
            <a:pathLst>
              <a:path h="696733" w="681927">
                <a:moveTo>
                  <a:pt x="0" y="0"/>
                </a:moveTo>
                <a:lnTo>
                  <a:pt x="681927" y="0"/>
                </a:lnTo>
                <a:lnTo>
                  <a:pt x="681927" y="696733"/>
                </a:lnTo>
                <a:lnTo>
                  <a:pt x="0" y="69673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9" id="19"/>
          <p:cNvSpPr txBox="true"/>
          <p:nvPr/>
        </p:nvSpPr>
        <p:spPr>
          <a:xfrm rot="0">
            <a:off x="7162770" y="6368168"/>
            <a:ext cx="6192807" cy="301625"/>
          </a:xfrm>
          <a:prstGeom prst="rect">
            <a:avLst/>
          </a:prstGeom>
        </p:spPr>
        <p:txBody>
          <a:bodyPr anchor="t" rtlCol="false" tIns="0" lIns="0" bIns="0" rIns="0">
            <a:spAutoFit/>
          </a:bodyPr>
          <a:lstStyle/>
          <a:p>
            <a:pPr algn="l">
              <a:lnSpc>
                <a:spcPts val="2499"/>
              </a:lnSpc>
              <a:spcBef>
                <a:spcPct val="0"/>
              </a:spcBef>
            </a:pPr>
            <a:r>
              <a:rPr lang="en-US" sz="1999" spc="113">
                <a:solidFill>
                  <a:srgbClr val="1C2011"/>
                </a:solidFill>
                <a:latin typeface="Gordita"/>
                <a:ea typeface="Gordita"/>
                <a:cs typeface="Gordita"/>
                <a:sym typeface="Gordita"/>
              </a:rPr>
              <a:t>processes payments. </a:t>
            </a:r>
          </a:p>
        </p:txBody>
      </p:sp>
      <p:sp>
        <p:nvSpPr>
          <p:cNvPr name="TextBox 20" id="20"/>
          <p:cNvSpPr txBox="true"/>
          <p:nvPr/>
        </p:nvSpPr>
        <p:spPr>
          <a:xfrm rot="0">
            <a:off x="2885469" y="6305668"/>
            <a:ext cx="4010600" cy="407576"/>
          </a:xfrm>
          <a:prstGeom prst="rect">
            <a:avLst/>
          </a:prstGeom>
        </p:spPr>
        <p:txBody>
          <a:bodyPr anchor="t" rtlCol="false" tIns="0" lIns="0" bIns="0" rIns="0">
            <a:spAutoFit/>
          </a:bodyPr>
          <a:lstStyle/>
          <a:p>
            <a:pPr algn="l" marL="0" indent="0" lvl="0">
              <a:lnSpc>
                <a:spcPts val="3249"/>
              </a:lnSpc>
              <a:spcBef>
                <a:spcPct val="0"/>
              </a:spcBef>
            </a:pPr>
            <a:r>
              <a:rPr lang="en-US" b="true" sz="2599">
                <a:solidFill>
                  <a:srgbClr val="1C2011"/>
                </a:solidFill>
                <a:latin typeface="Gordita Bold"/>
                <a:ea typeface="Gordita Bold"/>
                <a:cs typeface="Gordita Bold"/>
                <a:sym typeface="Gordita Bold"/>
              </a:rPr>
              <a:t>Us</a:t>
            </a:r>
            <a:r>
              <a:rPr lang="en-US" b="true" sz="2599" strike="noStrike" u="none">
                <a:solidFill>
                  <a:srgbClr val="1C2011"/>
                </a:solidFill>
                <a:latin typeface="Gordita Bold"/>
                <a:ea typeface="Gordita Bold"/>
                <a:cs typeface="Gordita Bold"/>
                <a:sym typeface="Gordita Bold"/>
              </a:rPr>
              <a:t>er Module</a:t>
            </a:r>
            <a:r>
              <a:rPr lang="en-US" b="true" sz="2599" strike="noStrike" u="none">
                <a:solidFill>
                  <a:srgbClr val="1C2011"/>
                </a:solidFill>
                <a:latin typeface="Gordita Bold"/>
                <a:ea typeface="Gordita Bold"/>
                <a:cs typeface="Gordita Bold"/>
                <a:sym typeface="Gordita Bold"/>
              </a:rPr>
              <a:t> Services - </a:t>
            </a:r>
          </a:p>
        </p:txBody>
      </p:sp>
      <p:sp>
        <p:nvSpPr>
          <p:cNvPr name="Freeform 21" id="21"/>
          <p:cNvSpPr/>
          <p:nvPr/>
        </p:nvSpPr>
        <p:spPr>
          <a:xfrm flipH="false" flipV="false" rot="0">
            <a:off x="1939776" y="7452582"/>
            <a:ext cx="681927" cy="696733"/>
          </a:xfrm>
          <a:custGeom>
            <a:avLst/>
            <a:gdLst/>
            <a:ahLst/>
            <a:cxnLst/>
            <a:rect r="r" b="b" t="t" l="l"/>
            <a:pathLst>
              <a:path h="696733" w="681927">
                <a:moveTo>
                  <a:pt x="0" y="0"/>
                </a:moveTo>
                <a:lnTo>
                  <a:pt x="681927" y="0"/>
                </a:lnTo>
                <a:lnTo>
                  <a:pt x="681927" y="696733"/>
                </a:lnTo>
                <a:lnTo>
                  <a:pt x="0" y="69673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2" id="22"/>
          <p:cNvSpPr txBox="true"/>
          <p:nvPr/>
        </p:nvSpPr>
        <p:spPr>
          <a:xfrm rot="0">
            <a:off x="7162770" y="7375717"/>
            <a:ext cx="6192807" cy="301625"/>
          </a:xfrm>
          <a:prstGeom prst="rect">
            <a:avLst/>
          </a:prstGeom>
        </p:spPr>
        <p:txBody>
          <a:bodyPr anchor="t" rtlCol="false" tIns="0" lIns="0" bIns="0" rIns="0">
            <a:spAutoFit/>
          </a:bodyPr>
          <a:lstStyle/>
          <a:p>
            <a:pPr algn="l">
              <a:lnSpc>
                <a:spcPts val="2499"/>
              </a:lnSpc>
              <a:spcBef>
                <a:spcPct val="0"/>
              </a:spcBef>
            </a:pPr>
            <a:r>
              <a:rPr lang="en-US" sz="1999" spc="113">
                <a:solidFill>
                  <a:srgbClr val="1C2011"/>
                </a:solidFill>
                <a:latin typeface="Gordita"/>
                <a:ea typeface="Gordita"/>
                <a:cs typeface="Gordita"/>
                <a:sym typeface="Gordita"/>
              </a:rPr>
              <a:t> sends reminders and confirmations. </a:t>
            </a:r>
          </a:p>
        </p:txBody>
      </p:sp>
      <p:sp>
        <p:nvSpPr>
          <p:cNvPr name="TextBox 23" id="23"/>
          <p:cNvSpPr txBox="true"/>
          <p:nvPr/>
        </p:nvSpPr>
        <p:spPr>
          <a:xfrm rot="0">
            <a:off x="2885469" y="7313217"/>
            <a:ext cx="4010600" cy="407576"/>
          </a:xfrm>
          <a:prstGeom prst="rect">
            <a:avLst/>
          </a:prstGeom>
        </p:spPr>
        <p:txBody>
          <a:bodyPr anchor="t" rtlCol="false" tIns="0" lIns="0" bIns="0" rIns="0">
            <a:spAutoFit/>
          </a:bodyPr>
          <a:lstStyle/>
          <a:p>
            <a:pPr algn="l" marL="0" indent="0" lvl="0">
              <a:lnSpc>
                <a:spcPts val="3249"/>
              </a:lnSpc>
              <a:spcBef>
                <a:spcPct val="0"/>
              </a:spcBef>
            </a:pPr>
            <a:r>
              <a:rPr lang="en-US" b="true" sz="2599">
                <a:solidFill>
                  <a:srgbClr val="1C2011"/>
                </a:solidFill>
                <a:latin typeface="Gordita Bold"/>
                <a:ea typeface="Gordita Bold"/>
                <a:cs typeface="Gordita Bold"/>
                <a:sym typeface="Gordita Bold"/>
              </a:rPr>
              <a:t>Us</a:t>
            </a:r>
            <a:r>
              <a:rPr lang="en-US" b="true" sz="2599" strike="noStrike" u="none">
                <a:solidFill>
                  <a:srgbClr val="1C2011"/>
                </a:solidFill>
                <a:latin typeface="Gordita Bold"/>
                <a:ea typeface="Gordita Bold"/>
                <a:cs typeface="Gordita Bold"/>
                <a:sym typeface="Gordita Bold"/>
              </a:rPr>
              <a:t>er Module</a:t>
            </a:r>
            <a:r>
              <a:rPr lang="en-US" b="true" sz="2599" strike="noStrike" u="none">
                <a:solidFill>
                  <a:srgbClr val="1C2011"/>
                </a:solidFill>
                <a:latin typeface="Gordita Bold"/>
                <a:ea typeface="Gordita Bold"/>
                <a:cs typeface="Gordita Bold"/>
                <a:sym typeface="Gordita Bold"/>
              </a:rPr>
              <a:t> Services -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AF4"/>
        </a:solidFill>
      </p:bgPr>
    </p:bg>
    <p:spTree>
      <p:nvGrpSpPr>
        <p:cNvPr id="1" name=""/>
        <p:cNvGrpSpPr/>
        <p:nvPr/>
      </p:nvGrpSpPr>
      <p:grpSpPr>
        <a:xfrm>
          <a:off x="0" y="0"/>
          <a:ext cx="0" cy="0"/>
          <a:chOff x="0" y="0"/>
          <a:chExt cx="0" cy="0"/>
        </a:xfrm>
      </p:grpSpPr>
      <p:grpSp>
        <p:nvGrpSpPr>
          <p:cNvPr name="Group 2" id="2"/>
          <p:cNvGrpSpPr/>
          <p:nvPr/>
        </p:nvGrpSpPr>
        <p:grpSpPr>
          <a:xfrm rot="5400000">
            <a:off x="13075712" y="4642478"/>
            <a:ext cx="11446437" cy="3356457"/>
            <a:chOff x="0" y="0"/>
            <a:chExt cx="3014700" cy="884005"/>
          </a:xfrm>
        </p:grpSpPr>
        <p:sp>
          <p:nvSpPr>
            <p:cNvPr name="Freeform 3" id="3"/>
            <p:cNvSpPr/>
            <p:nvPr/>
          </p:nvSpPr>
          <p:spPr>
            <a:xfrm flipH="false" flipV="false" rot="0">
              <a:off x="0" y="0"/>
              <a:ext cx="3014700" cy="884005"/>
            </a:xfrm>
            <a:custGeom>
              <a:avLst/>
              <a:gdLst/>
              <a:ahLst/>
              <a:cxnLst/>
              <a:rect r="r" b="b" t="t" l="l"/>
              <a:pathLst>
                <a:path h="884005" w="3014700">
                  <a:moveTo>
                    <a:pt x="67636" y="0"/>
                  </a:moveTo>
                  <a:lnTo>
                    <a:pt x="2947064" y="0"/>
                  </a:lnTo>
                  <a:cubicBezTo>
                    <a:pt x="2965002" y="0"/>
                    <a:pt x="2982205" y="7126"/>
                    <a:pt x="2994889" y="19810"/>
                  </a:cubicBezTo>
                  <a:cubicBezTo>
                    <a:pt x="3007574" y="32494"/>
                    <a:pt x="3014700" y="49698"/>
                    <a:pt x="3014700" y="67636"/>
                  </a:cubicBezTo>
                  <a:lnTo>
                    <a:pt x="3014700" y="816369"/>
                  </a:lnTo>
                  <a:cubicBezTo>
                    <a:pt x="3014700" y="834307"/>
                    <a:pt x="3007574" y="851511"/>
                    <a:pt x="2994889" y="864195"/>
                  </a:cubicBezTo>
                  <a:cubicBezTo>
                    <a:pt x="2982205" y="876879"/>
                    <a:pt x="2965002" y="884005"/>
                    <a:pt x="2947064" y="884005"/>
                  </a:cubicBezTo>
                  <a:lnTo>
                    <a:pt x="67636" y="884005"/>
                  </a:lnTo>
                  <a:cubicBezTo>
                    <a:pt x="49698" y="884005"/>
                    <a:pt x="32494" y="876879"/>
                    <a:pt x="19810" y="864195"/>
                  </a:cubicBezTo>
                  <a:cubicBezTo>
                    <a:pt x="7126" y="851511"/>
                    <a:pt x="0" y="834307"/>
                    <a:pt x="0" y="816369"/>
                  </a:cubicBezTo>
                  <a:lnTo>
                    <a:pt x="0" y="67636"/>
                  </a:lnTo>
                  <a:cubicBezTo>
                    <a:pt x="0" y="49698"/>
                    <a:pt x="7126" y="32494"/>
                    <a:pt x="19810" y="19810"/>
                  </a:cubicBezTo>
                  <a:cubicBezTo>
                    <a:pt x="32494" y="7126"/>
                    <a:pt x="49698" y="0"/>
                    <a:pt x="67636" y="0"/>
                  </a:cubicBezTo>
                  <a:close/>
                </a:path>
              </a:pathLst>
            </a:custGeom>
            <a:solidFill>
              <a:srgbClr val="8EAEF1"/>
            </a:solidFill>
          </p:spPr>
        </p:sp>
        <p:sp>
          <p:nvSpPr>
            <p:cNvPr name="TextBox 4" id="4"/>
            <p:cNvSpPr txBox="true"/>
            <p:nvPr/>
          </p:nvSpPr>
          <p:spPr>
            <a:xfrm>
              <a:off x="0" y="-19050"/>
              <a:ext cx="3014700" cy="903055"/>
            </a:xfrm>
            <a:prstGeom prst="rect">
              <a:avLst/>
            </a:prstGeom>
          </p:spPr>
          <p:txBody>
            <a:bodyPr anchor="ctr" rtlCol="false" tIns="50800" lIns="50800" bIns="50800" rIns="50800"/>
            <a:lstStyle/>
            <a:p>
              <a:pPr algn="ctr">
                <a:lnSpc>
                  <a:spcPts val="3137"/>
                </a:lnSpc>
              </a:pPr>
            </a:p>
          </p:txBody>
        </p:sp>
      </p:grpSp>
      <p:grpSp>
        <p:nvGrpSpPr>
          <p:cNvPr name="Group 5" id="5"/>
          <p:cNvGrpSpPr/>
          <p:nvPr/>
        </p:nvGrpSpPr>
        <p:grpSpPr>
          <a:xfrm rot="5400000">
            <a:off x="-6372747" y="2398743"/>
            <a:ext cx="11446437" cy="3356457"/>
            <a:chOff x="0" y="0"/>
            <a:chExt cx="3014700" cy="884005"/>
          </a:xfrm>
        </p:grpSpPr>
        <p:sp>
          <p:nvSpPr>
            <p:cNvPr name="Freeform 6" id="6"/>
            <p:cNvSpPr/>
            <p:nvPr/>
          </p:nvSpPr>
          <p:spPr>
            <a:xfrm flipH="false" flipV="false" rot="0">
              <a:off x="0" y="0"/>
              <a:ext cx="3014700" cy="884005"/>
            </a:xfrm>
            <a:custGeom>
              <a:avLst/>
              <a:gdLst/>
              <a:ahLst/>
              <a:cxnLst/>
              <a:rect r="r" b="b" t="t" l="l"/>
              <a:pathLst>
                <a:path h="884005" w="3014700">
                  <a:moveTo>
                    <a:pt x="67636" y="0"/>
                  </a:moveTo>
                  <a:lnTo>
                    <a:pt x="2947064" y="0"/>
                  </a:lnTo>
                  <a:cubicBezTo>
                    <a:pt x="2965002" y="0"/>
                    <a:pt x="2982205" y="7126"/>
                    <a:pt x="2994889" y="19810"/>
                  </a:cubicBezTo>
                  <a:cubicBezTo>
                    <a:pt x="3007574" y="32494"/>
                    <a:pt x="3014700" y="49698"/>
                    <a:pt x="3014700" y="67636"/>
                  </a:cubicBezTo>
                  <a:lnTo>
                    <a:pt x="3014700" y="816369"/>
                  </a:lnTo>
                  <a:cubicBezTo>
                    <a:pt x="3014700" y="834307"/>
                    <a:pt x="3007574" y="851511"/>
                    <a:pt x="2994889" y="864195"/>
                  </a:cubicBezTo>
                  <a:cubicBezTo>
                    <a:pt x="2982205" y="876879"/>
                    <a:pt x="2965002" y="884005"/>
                    <a:pt x="2947064" y="884005"/>
                  </a:cubicBezTo>
                  <a:lnTo>
                    <a:pt x="67636" y="884005"/>
                  </a:lnTo>
                  <a:cubicBezTo>
                    <a:pt x="49698" y="884005"/>
                    <a:pt x="32494" y="876879"/>
                    <a:pt x="19810" y="864195"/>
                  </a:cubicBezTo>
                  <a:cubicBezTo>
                    <a:pt x="7126" y="851511"/>
                    <a:pt x="0" y="834307"/>
                    <a:pt x="0" y="816369"/>
                  </a:cubicBezTo>
                  <a:lnTo>
                    <a:pt x="0" y="67636"/>
                  </a:lnTo>
                  <a:cubicBezTo>
                    <a:pt x="0" y="49698"/>
                    <a:pt x="7126" y="32494"/>
                    <a:pt x="19810" y="19810"/>
                  </a:cubicBezTo>
                  <a:cubicBezTo>
                    <a:pt x="32494" y="7126"/>
                    <a:pt x="49698" y="0"/>
                    <a:pt x="67636" y="0"/>
                  </a:cubicBezTo>
                  <a:close/>
                </a:path>
              </a:pathLst>
            </a:custGeom>
            <a:solidFill>
              <a:srgbClr val="8EAEF1"/>
            </a:solidFill>
          </p:spPr>
        </p:sp>
        <p:sp>
          <p:nvSpPr>
            <p:cNvPr name="TextBox 7" id="7"/>
            <p:cNvSpPr txBox="true"/>
            <p:nvPr/>
          </p:nvSpPr>
          <p:spPr>
            <a:xfrm>
              <a:off x="0" y="-19050"/>
              <a:ext cx="3014700" cy="903055"/>
            </a:xfrm>
            <a:prstGeom prst="rect">
              <a:avLst/>
            </a:prstGeom>
          </p:spPr>
          <p:txBody>
            <a:bodyPr anchor="ctr" rtlCol="false" tIns="50800" lIns="50800" bIns="50800" rIns="50800"/>
            <a:lstStyle/>
            <a:p>
              <a:pPr algn="ctr">
                <a:lnSpc>
                  <a:spcPts val="3137"/>
                </a:lnSpc>
              </a:pPr>
            </a:p>
          </p:txBody>
        </p:sp>
      </p:grpSp>
      <p:sp>
        <p:nvSpPr>
          <p:cNvPr name="Freeform 8" id="8"/>
          <p:cNvSpPr/>
          <p:nvPr/>
        </p:nvSpPr>
        <p:spPr>
          <a:xfrm flipH="false" flipV="false" rot="0">
            <a:off x="16345122" y="865844"/>
            <a:ext cx="2453808" cy="162856"/>
          </a:xfrm>
          <a:custGeom>
            <a:avLst/>
            <a:gdLst/>
            <a:ahLst/>
            <a:cxnLst/>
            <a:rect r="r" b="b" t="t" l="l"/>
            <a:pathLst>
              <a:path h="162856" w="2453808">
                <a:moveTo>
                  <a:pt x="0" y="0"/>
                </a:moveTo>
                <a:lnTo>
                  <a:pt x="2453809" y="0"/>
                </a:lnTo>
                <a:lnTo>
                  <a:pt x="2453809" y="162856"/>
                </a:lnTo>
                <a:lnTo>
                  <a:pt x="0" y="162856"/>
                </a:lnTo>
                <a:lnTo>
                  <a:pt x="0" y="0"/>
                </a:lnTo>
                <a:close/>
              </a:path>
            </a:pathLst>
          </a:custGeom>
          <a:blipFill>
            <a:blip r:embed="rId2"/>
            <a:stretch>
              <a:fillRect l="0" t="0" r="0" b="-1103501"/>
            </a:stretch>
          </a:blipFill>
          <a:ln cap="sq">
            <a:noFill/>
            <a:prstDash val="solid"/>
            <a:miter/>
          </a:ln>
        </p:spPr>
      </p:sp>
      <p:sp>
        <p:nvSpPr>
          <p:cNvPr name="Freeform 9" id="9"/>
          <p:cNvSpPr/>
          <p:nvPr/>
        </p:nvSpPr>
        <p:spPr>
          <a:xfrm flipH="false" flipV="false" rot="-5400000">
            <a:off x="16321555" y="5262856"/>
            <a:ext cx="4231400" cy="2115700"/>
          </a:xfrm>
          <a:custGeom>
            <a:avLst/>
            <a:gdLst/>
            <a:ahLst/>
            <a:cxnLst/>
            <a:rect r="r" b="b" t="t" l="l"/>
            <a:pathLst>
              <a:path h="2115700" w="4231400">
                <a:moveTo>
                  <a:pt x="0" y="0"/>
                </a:moveTo>
                <a:lnTo>
                  <a:pt x="4231400" y="0"/>
                </a:lnTo>
                <a:lnTo>
                  <a:pt x="4231400" y="2115700"/>
                </a:lnTo>
                <a:lnTo>
                  <a:pt x="0" y="2115700"/>
                </a:lnTo>
                <a:lnTo>
                  <a:pt x="0" y="0"/>
                </a:lnTo>
                <a:close/>
              </a:path>
            </a:pathLst>
          </a:custGeom>
          <a:blipFill>
            <a:blip r:embed="rId3"/>
            <a:stretch>
              <a:fillRect l="0" t="0" r="0" b="0"/>
            </a:stretch>
          </a:blipFill>
          <a:ln cap="sq">
            <a:noFill/>
            <a:prstDash val="solid"/>
            <a:miter/>
          </a:ln>
        </p:spPr>
      </p:sp>
      <p:sp>
        <p:nvSpPr>
          <p:cNvPr name="Freeform 10" id="10"/>
          <p:cNvSpPr/>
          <p:nvPr/>
        </p:nvSpPr>
        <p:spPr>
          <a:xfrm flipH="false" flipV="false" rot="5400000">
            <a:off x="-2235103" y="930654"/>
            <a:ext cx="4195091" cy="2097545"/>
          </a:xfrm>
          <a:custGeom>
            <a:avLst/>
            <a:gdLst/>
            <a:ahLst/>
            <a:cxnLst/>
            <a:rect r="r" b="b" t="t" l="l"/>
            <a:pathLst>
              <a:path h="2097545" w="4195091">
                <a:moveTo>
                  <a:pt x="0" y="0"/>
                </a:moveTo>
                <a:lnTo>
                  <a:pt x="4195090" y="0"/>
                </a:lnTo>
                <a:lnTo>
                  <a:pt x="4195090" y="2097545"/>
                </a:lnTo>
                <a:lnTo>
                  <a:pt x="0" y="2097545"/>
                </a:lnTo>
                <a:lnTo>
                  <a:pt x="0" y="0"/>
                </a:lnTo>
                <a:close/>
              </a:path>
            </a:pathLst>
          </a:custGeom>
          <a:blipFill>
            <a:blip r:embed="rId3"/>
            <a:stretch>
              <a:fillRect l="0" t="0" r="0" b="0"/>
            </a:stretch>
          </a:blipFill>
          <a:ln cap="sq">
            <a:noFill/>
            <a:prstDash val="solid"/>
            <a:miter/>
          </a:ln>
        </p:spPr>
      </p:sp>
      <p:sp>
        <p:nvSpPr>
          <p:cNvPr name="Freeform 11" id="11"/>
          <p:cNvSpPr/>
          <p:nvPr/>
        </p:nvSpPr>
        <p:spPr>
          <a:xfrm flipH="false" flipV="false" rot="0">
            <a:off x="5606874" y="1685530"/>
            <a:ext cx="5571455" cy="8114660"/>
          </a:xfrm>
          <a:custGeom>
            <a:avLst/>
            <a:gdLst/>
            <a:ahLst/>
            <a:cxnLst/>
            <a:rect r="r" b="b" t="t" l="l"/>
            <a:pathLst>
              <a:path h="8114660" w="5571455">
                <a:moveTo>
                  <a:pt x="0" y="0"/>
                </a:moveTo>
                <a:lnTo>
                  <a:pt x="5571455" y="0"/>
                </a:lnTo>
                <a:lnTo>
                  <a:pt x="5571455" y="8114660"/>
                </a:lnTo>
                <a:lnTo>
                  <a:pt x="0" y="8114660"/>
                </a:lnTo>
                <a:lnTo>
                  <a:pt x="0" y="0"/>
                </a:lnTo>
                <a:close/>
              </a:path>
            </a:pathLst>
          </a:custGeom>
          <a:blipFill>
            <a:blip r:embed="rId4"/>
            <a:stretch>
              <a:fillRect l="0" t="0" r="0" b="0"/>
            </a:stretch>
          </a:blipFill>
        </p:spPr>
      </p:sp>
      <p:sp>
        <p:nvSpPr>
          <p:cNvPr name="TextBox 12" id="12"/>
          <p:cNvSpPr txBox="true"/>
          <p:nvPr/>
        </p:nvSpPr>
        <p:spPr>
          <a:xfrm rot="0">
            <a:off x="1720225" y="616538"/>
            <a:ext cx="7084365" cy="891540"/>
          </a:xfrm>
          <a:prstGeom prst="rect">
            <a:avLst/>
          </a:prstGeom>
        </p:spPr>
        <p:txBody>
          <a:bodyPr anchor="t" rtlCol="false" tIns="0" lIns="0" bIns="0" rIns="0">
            <a:spAutoFit/>
          </a:bodyPr>
          <a:lstStyle/>
          <a:p>
            <a:pPr algn="just" marL="0" indent="0" lvl="0">
              <a:lnSpc>
                <a:spcPts val="7080"/>
              </a:lnSpc>
              <a:spcBef>
                <a:spcPct val="0"/>
              </a:spcBef>
            </a:pPr>
            <a:r>
              <a:rPr lang="en-US" b="true" sz="6000">
                <a:solidFill>
                  <a:srgbClr val="1C2011"/>
                </a:solidFill>
                <a:latin typeface="Gordita Bold"/>
                <a:ea typeface="Gordita Bold"/>
                <a:cs typeface="Gordita Bold"/>
                <a:sym typeface="Gordita Bold"/>
              </a:rPr>
              <a:t>Activity Diagram</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AF4"/>
        </a:solidFill>
      </p:bgPr>
    </p:bg>
    <p:spTree>
      <p:nvGrpSpPr>
        <p:cNvPr id="1" name=""/>
        <p:cNvGrpSpPr/>
        <p:nvPr/>
      </p:nvGrpSpPr>
      <p:grpSpPr>
        <a:xfrm>
          <a:off x="0" y="0"/>
          <a:ext cx="0" cy="0"/>
          <a:chOff x="0" y="0"/>
          <a:chExt cx="0" cy="0"/>
        </a:xfrm>
      </p:grpSpPr>
      <p:sp>
        <p:nvSpPr>
          <p:cNvPr name="Freeform 2" id="2"/>
          <p:cNvSpPr/>
          <p:nvPr/>
        </p:nvSpPr>
        <p:spPr>
          <a:xfrm flipH="false" flipV="false" rot="0">
            <a:off x="16939986" y="-897328"/>
            <a:ext cx="2176124" cy="2167963"/>
          </a:xfrm>
          <a:custGeom>
            <a:avLst/>
            <a:gdLst/>
            <a:ahLst/>
            <a:cxnLst/>
            <a:rect r="r" b="b" t="t" l="l"/>
            <a:pathLst>
              <a:path h="2167963" w="2176124">
                <a:moveTo>
                  <a:pt x="0" y="0"/>
                </a:moveTo>
                <a:lnTo>
                  <a:pt x="2176124" y="0"/>
                </a:lnTo>
                <a:lnTo>
                  <a:pt x="2176124" y="2167963"/>
                </a:lnTo>
                <a:lnTo>
                  <a:pt x="0" y="2167963"/>
                </a:lnTo>
                <a:lnTo>
                  <a:pt x="0" y="0"/>
                </a:lnTo>
                <a:close/>
              </a:path>
            </a:pathLst>
          </a:custGeom>
          <a:blipFill>
            <a:blip r:embed="rId2"/>
            <a:stretch>
              <a:fillRect l="0" t="0" r="0" b="0"/>
            </a:stretch>
          </a:blipFill>
          <a:ln cap="sq">
            <a:noFill/>
            <a:prstDash val="solid"/>
            <a:miter/>
          </a:ln>
        </p:spPr>
      </p:sp>
      <p:sp>
        <p:nvSpPr>
          <p:cNvPr name="Freeform 3" id="3"/>
          <p:cNvSpPr/>
          <p:nvPr/>
        </p:nvSpPr>
        <p:spPr>
          <a:xfrm flipH="false" flipV="false" rot="0">
            <a:off x="-964454" y="-992578"/>
            <a:ext cx="2176124" cy="2167963"/>
          </a:xfrm>
          <a:custGeom>
            <a:avLst/>
            <a:gdLst/>
            <a:ahLst/>
            <a:cxnLst/>
            <a:rect r="r" b="b" t="t" l="l"/>
            <a:pathLst>
              <a:path h="2167963" w="2176124">
                <a:moveTo>
                  <a:pt x="0" y="0"/>
                </a:moveTo>
                <a:lnTo>
                  <a:pt x="2176124" y="0"/>
                </a:lnTo>
                <a:lnTo>
                  <a:pt x="2176124" y="2167963"/>
                </a:lnTo>
                <a:lnTo>
                  <a:pt x="0" y="2167963"/>
                </a:lnTo>
                <a:lnTo>
                  <a:pt x="0" y="0"/>
                </a:lnTo>
                <a:close/>
              </a:path>
            </a:pathLst>
          </a:custGeom>
          <a:blipFill>
            <a:blip r:embed="rId2"/>
            <a:stretch>
              <a:fillRect l="0" t="0" r="0" b="0"/>
            </a:stretch>
          </a:blipFill>
          <a:ln cap="sq">
            <a:noFill/>
            <a:prstDash val="solid"/>
            <a:miter/>
          </a:ln>
        </p:spPr>
      </p:sp>
      <p:sp>
        <p:nvSpPr>
          <p:cNvPr name="Freeform 4" id="4"/>
          <p:cNvSpPr/>
          <p:nvPr/>
        </p:nvSpPr>
        <p:spPr>
          <a:xfrm flipH="false" flipV="false" rot="0">
            <a:off x="0" y="8196898"/>
            <a:ext cx="615154" cy="1975650"/>
          </a:xfrm>
          <a:custGeom>
            <a:avLst/>
            <a:gdLst/>
            <a:ahLst/>
            <a:cxnLst/>
            <a:rect r="r" b="b" t="t" l="l"/>
            <a:pathLst>
              <a:path h="1975650" w="615154">
                <a:moveTo>
                  <a:pt x="0" y="0"/>
                </a:moveTo>
                <a:lnTo>
                  <a:pt x="615154" y="0"/>
                </a:lnTo>
                <a:lnTo>
                  <a:pt x="615154" y="1975650"/>
                </a:lnTo>
                <a:lnTo>
                  <a:pt x="0" y="1975650"/>
                </a:lnTo>
                <a:lnTo>
                  <a:pt x="0" y="0"/>
                </a:lnTo>
                <a:close/>
              </a:path>
            </a:pathLst>
          </a:custGeom>
          <a:blipFill>
            <a:blip r:embed="rId3"/>
            <a:stretch>
              <a:fillRect l="-262896" t="0" r="0" b="0"/>
            </a:stretch>
          </a:blipFill>
          <a:ln cap="sq">
            <a:noFill/>
            <a:prstDash val="solid"/>
            <a:miter/>
          </a:ln>
        </p:spPr>
      </p:sp>
      <p:sp>
        <p:nvSpPr>
          <p:cNvPr name="Freeform 5" id="5"/>
          <p:cNvSpPr/>
          <p:nvPr/>
        </p:nvSpPr>
        <p:spPr>
          <a:xfrm flipH="false" flipV="false" rot="0">
            <a:off x="17672846" y="8196898"/>
            <a:ext cx="615154" cy="1975650"/>
          </a:xfrm>
          <a:custGeom>
            <a:avLst/>
            <a:gdLst/>
            <a:ahLst/>
            <a:cxnLst/>
            <a:rect r="r" b="b" t="t" l="l"/>
            <a:pathLst>
              <a:path h="1975650" w="615154">
                <a:moveTo>
                  <a:pt x="0" y="0"/>
                </a:moveTo>
                <a:lnTo>
                  <a:pt x="615154" y="0"/>
                </a:lnTo>
                <a:lnTo>
                  <a:pt x="615154" y="1975650"/>
                </a:lnTo>
                <a:lnTo>
                  <a:pt x="0" y="1975650"/>
                </a:lnTo>
                <a:lnTo>
                  <a:pt x="0" y="0"/>
                </a:lnTo>
                <a:close/>
              </a:path>
            </a:pathLst>
          </a:custGeom>
          <a:blipFill>
            <a:blip r:embed="rId3"/>
            <a:stretch>
              <a:fillRect l="-262896" t="0" r="0" b="0"/>
            </a:stretch>
          </a:blipFill>
          <a:ln cap="sq">
            <a:noFill/>
            <a:prstDash val="solid"/>
            <a:miter/>
          </a:ln>
        </p:spPr>
      </p:sp>
      <p:grpSp>
        <p:nvGrpSpPr>
          <p:cNvPr name="Group 6" id="6"/>
          <p:cNvGrpSpPr/>
          <p:nvPr/>
        </p:nvGrpSpPr>
        <p:grpSpPr>
          <a:xfrm rot="0">
            <a:off x="1211670" y="9184723"/>
            <a:ext cx="15864660" cy="3037418"/>
            <a:chOff x="0" y="0"/>
            <a:chExt cx="4178347" cy="799978"/>
          </a:xfrm>
        </p:grpSpPr>
        <p:sp>
          <p:nvSpPr>
            <p:cNvPr name="Freeform 7" id="7"/>
            <p:cNvSpPr/>
            <p:nvPr/>
          </p:nvSpPr>
          <p:spPr>
            <a:xfrm flipH="false" flipV="false" rot="0">
              <a:off x="0" y="0"/>
              <a:ext cx="4178347" cy="799978"/>
            </a:xfrm>
            <a:custGeom>
              <a:avLst/>
              <a:gdLst/>
              <a:ahLst/>
              <a:cxnLst/>
              <a:rect r="r" b="b" t="t" l="l"/>
              <a:pathLst>
                <a:path h="799978" w="4178347">
                  <a:moveTo>
                    <a:pt x="48800" y="0"/>
                  </a:moveTo>
                  <a:lnTo>
                    <a:pt x="4129547" y="0"/>
                  </a:lnTo>
                  <a:cubicBezTo>
                    <a:pt x="4156499" y="0"/>
                    <a:pt x="4178347" y="21848"/>
                    <a:pt x="4178347" y="48800"/>
                  </a:cubicBezTo>
                  <a:lnTo>
                    <a:pt x="4178347" y="751179"/>
                  </a:lnTo>
                  <a:cubicBezTo>
                    <a:pt x="4178347" y="778130"/>
                    <a:pt x="4156499" y="799978"/>
                    <a:pt x="4129547" y="799978"/>
                  </a:cubicBezTo>
                  <a:lnTo>
                    <a:pt x="48800" y="799978"/>
                  </a:lnTo>
                  <a:cubicBezTo>
                    <a:pt x="21848" y="799978"/>
                    <a:pt x="0" y="778130"/>
                    <a:pt x="0" y="751179"/>
                  </a:cubicBezTo>
                  <a:lnTo>
                    <a:pt x="0" y="48800"/>
                  </a:lnTo>
                  <a:cubicBezTo>
                    <a:pt x="0" y="21848"/>
                    <a:pt x="21848" y="0"/>
                    <a:pt x="48800" y="0"/>
                  </a:cubicBezTo>
                  <a:close/>
                </a:path>
              </a:pathLst>
            </a:custGeom>
            <a:solidFill>
              <a:srgbClr val="8EAEF1"/>
            </a:solidFill>
          </p:spPr>
        </p:sp>
        <p:sp>
          <p:nvSpPr>
            <p:cNvPr name="TextBox 8" id="8"/>
            <p:cNvSpPr txBox="true"/>
            <p:nvPr/>
          </p:nvSpPr>
          <p:spPr>
            <a:xfrm>
              <a:off x="0" y="-19050"/>
              <a:ext cx="4178347" cy="819028"/>
            </a:xfrm>
            <a:prstGeom prst="rect">
              <a:avLst/>
            </a:prstGeom>
          </p:spPr>
          <p:txBody>
            <a:bodyPr anchor="ctr" rtlCol="false" tIns="50800" lIns="50800" bIns="50800" rIns="50800"/>
            <a:lstStyle/>
            <a:p>
              <a:pPr algn="ctr">
                <a:lnSpc>
                  <a:spcPts val="3137"/>
                </a:lnSpc>
              </a:pPr>
            </a:p>
          </p:txBody>
        </p:sp>
      </p:grpSp>
      <p:sp>
        <p:nvSpPr>
          <p:cNvPr name="TextBox 9" id="9"/>
          <p:cNvSpPr txBox="true"/>
          <p:nvPr/>
        </p:nvSpPr>
        <p:spPr>
          <a:xfrm rot="0">
            <a:off x="437237" y="1194435"/>
            <a:ext cx="16230600" cy="891540"/>
          </a:xfrm>
          <a:prstGeom prst="rect">
            <a:avLst/>
          </a:prstGeom>
        </p:spPr>
        <p:txBody>
          <a:bodyPr anchor="t" rtlCol="false" tIns="0" lIns="0" bIns="0" rIns="0">
            <a:spAutoFit/>
          </a:bodyPr>
          <a:lstStyle/>
          <a:p>
            <a:pPr algn="ctr" marL="0" indent="0" lvl="0">
              <a:lnSpc>
                <a:spcPts val="7080"/>
              </a:lnSpc>
              <a:spcBef>
                <a:spcPct val="0"/>
              </a:spcBef>
            </a:pPr>
            <a:r>
              <a:rPr lang="en-US" b="true" sz="6000" strike="noStrike" u="none">
                <a:solidFill>
                  <a:srgbClr val="1C2011"/>
                </a:solidFill>
                <a:latin typeface="Gordita Bold"/>
                <a:ea typeface="Gordita Bold"/>
                <a:cs typeface="Gordita Bold"/>
                <a:sym typeface="Gordita Bold"/>
              </a:rPr>
              <a:t>Conclusion</a:t>
            </a:r>
          </a:p>
        </p:txBody>
      </p:sp>
      <p:sp>
        <p:nvSpPr>
          <p:cNvPr name="TextBox 10" id="10"/>
          <p:cNvSpPr txBox="true"/>
          <p:nvPr/>
        </p:nvSpPr>
        <p:spPr>
          <a:xfrm rot="0">
            <a:off x="3108240" y="3420121"/>
            <a:ext cx="12071519" cy="4098290"/>
          </a:xfrm>
          <a:prstGeom prst="rect">
            <a:avLst/>
          </a:prstGeom>
        </p:spPr>
        <p:txBody>
          <a:bodyPr anchor="t" rtlCol="false" tIns="0" lIns="0" bIns="0" rIns="0">
            <a:spAutoFit/>
          </a:bodyPr>
          <a:lstStyle/>
          <a:p>
            <a:pPr algn="ctr">
              <a:lnSpc>
                <a:spcPts val="3249"/>
              </a:lnSpc>
              <a:spcBef>
                <a:spcPct val="0"/>
              </a:spcBef>
            </a:pPr>
            <a:r>
              <a:rPr lang="en-US" b="true" sz="2599">
                <a:solidFill>
                  <a:srgbClr val="1C2011"/>
                </a:solidFill>
                <a:latin typeface="Gordita Bold"/>
                <a:ea typeface="Gordita Bold"/>
                <a:cs typeface="Gordita Bold"/>
                <a:sym typeface="Gordita Bold"/>
              </a:rPr>
              <a:t>In conclusion, t</a:t>
            </a:r>
            <a:r>
              <a:rPr lang="en-US" b="true" sz="2599">
                <a:solidFill>
                  <a:srgbClr val="1C2011"/>
                </a:solidFill>
                <a:latin typeface="Gordita Bold"/>
                <a:ea typeface="Gordita Bold"/>
                <a:cs typeface="Gordita Bold"/>
                <a:sym typeface="Gordita Bold"/>
              </a:rPr>
              <a:t>he Smart Appointment Booking System makes the process of booking appointments much easier and more reliable compared to traditional methods.  Overall, it saves time, reduces confusion, and provides a better experience for everyone.</a:t>
            </a:r>
          </a:p>
          <a:p>
            <a:pPr algn="ctr">
              <a:lnSpc>
                <a:spcPts val="3249"/>
              </a:lnSpc>
              <a:spcBef>
                <a:spcPct val="0"/>
              </a:spcBef>
            </a:pPr>
          </a:p>
          <a:p>
            <a:pPr algn="ctr">
              <a:lnSpc>
                <a:spcPts val="3249"/>
              </a:lnSpc>
              <a:spcBef>
                <a:spcPct val="0"/>
              </a:spcBef>
            </a:pPr>
          </a:p>
          <a:p>
            <a:pPr algn="ctr">
              <a:lnSpc>
                <a:spcPts val="3249"/>
              </a:lnSpc>
              <a:spcBef>
                <a:spcPct val="0"/>
              </a:spcBef>
            </a:pPr>
            <a:r>
              <a:rPr lang="en-US" b="true" sz="2599">
                <a:solidFill>
                  <a:srgbClr val="1C2011"/>
                </a:solidFill>
                <a:latin typeface="Gordita Bold"/>
                <a:ea typeface="Gordita Bold"/>
                <a:cs typeface="Gordita Bold"/>
                <a:sym typeface="Gordita Bold"/>
              </a:rPr>
              <a:t>Future improvements may include mobile applications, AI based recommendations, integration with Google Calendar, push notifications, and advanced analytics dashboards.</a:t>
            </a:r>
          </a:p>
          <a:p>
            <a:pPr algn="ctr">
              <a:lnSpc>
                <a:spcPts val="3249"/>
              </a:lnSpc>
              <a:spcBef>
                <a:spcPct val="0"/>
              </a:spcBef>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FAF4"/>
        </a:solidFill>
      </p:bgPr>
    </p:bg>
    <p:spTree>
      <p:nvGrpSpPr>
        <p:cNvPr id="1" name=""/>
        <p:cNvGrpSpPr/>
        <p:nvPr/>
      </p:nvGrpSpPr>
      <p:grpSpPr>
        <a:xfrm>
          <a:off x="0" y="0"/>
          <a:ext cx="0" cy="0"/>
          <a:chOff x="0" y="0"/>
          <a:chExt cx="0" cy="0"/>
        </a:xfrm>
      </p:grpSpPr>
      <p:grpSp>
        <p:nvGrpSpPr>
          <p:cNvPr name="Group 2" id="2"/>
          <p:cNvGrpSpPr/>
          <p:nvPr/>
        </p:nvGrpSpPr>
        <p:grpSpPr>
          <a:xfrm rot="5400000">
            <a:off x="11020352" y="-333263"/>
            <a:ext cx="10832300" cy="11068566"/>
            <a:chOff x="0" y="0"/>
            <a:chExt cx="2852951" cy="2915178"/>
          </a:xfrm>
        </p:grpSpPr>
        <p:sp>
          <p:nvSpPr>
            <p:cNvPr name="Freeform 3" id="3"/>
            <p:cNvSpPr/>
            <p:nvPr/>
          </p:nvSpPr>
          <p:spPr>
            <a:xfrm flipH="false" flipV="false" rot="0">
              <a:off x="0" y="0"/>
              <a:ext cx="2852951" cy="2915178"/>
            </a:xfrm>
            <a:custGeom>
              <a:avLst/>
              <a:gdLst/>
              <a:ahLst/>
              <a:cxnLst/>
              <a:rect r="r" b="b" t="t" l="l"/>
              <a:pathLst>
                <a:path h="2915178" w="2852951">
                  <a:moveTo>
                    <a:pt x="71471" y="0"/>
                  </a:moveTo>
                  <a:lnTo>
                    <a:pt x="2781481" y="0"/>
                  </a:lnTo>
                  <a:cubicBezTo>
                    <a:pt x="2820953" y="0"/>
                    <a:pt x="2852951" y="31999"/>
                    <a:pt x="2852951" y="71471"/>
                  </a:cubicBezTo>
                  <a:lnTo>
                    <a:pt x="2852951" y="2843707"/>
                  </a:lnTo>
                  <a:cubicBezTo>
                    <a:pt x="2852951" y="2862662"/>
                    <a:pt x="2845421" y="2880841"/>
                    <a:pt x="2832018" y="2894245"/>
                  </a:cubicBezTo>
                  <a:cubicBezTo>
                    <a:pt x="2818615" y="2907648"/>
                    <a:pt x="2800436" y="2915178"/>
                    <a:pt x="2781481" y="2915178"/>
                  </a:cubicBezTo>
                  <a:lnTo>
                    <a:pt x="71471" y="2915178"/>
                  </a:lnTo>
                  <a:cubicBezTo>
                    <a:pt x="52515" y="2915178"/>
                    <a:pt x="34337" y="2907648"/>
                    <a:pt x="20933" y="2894245"/>
                  </a:cubicBezTo>
                  <a:cubicBezTo>
                    <a:pt x="7530" y="2880841"/>
                    <a:pt x="0" y="2862662"/>
                    <a:pt x="0" y="2843707"/>
                  </a:cubicBezTo>
                  <a:lnTo>
                    <a:pt x="0" y="71471"/>
                  </a:lnTo>
                  <a:cubicBezTo>
                    <a:pt x="0" y="52515"/>
                    <a:pt x="7530" y="34337"/>
                    <a:pt x="20933" y="20933"/>
                  </a:cubicBezTo>
                  <a:cubicBezTo>
                    <a:pt x="34337" y="7530"/>
                    <a:pt x="52515" y="0"/>
                    <a:pt x="71471" y="0"/>
                  </a:cubicBezTo>
                  <a:close/>
                </a:path>
              </a:pathLst>
            </a:custGeom>
            <a:solidFill>
              <a:srgbClr val="8EAEF1"/>
            </a:solidFill>
          </p:spPr>
        </p:sp>
        <p:sp>
          <p:nvSpPr>
            <p:cNvPr name="TextBox 4" id="4"/>
            <p:cNvSpPr txBox="true"/>
            <p:nvPr/>
          </p:nvSpPr>
          <p:spPr>
            <a:xfrm>
              <a:off x="0" y="-19050"/>
              <a:ext cx="2852951" cy="2934228"/>
            </a:xfrm>
            <a:prstGeom prst="rect">
              <a:avLst/>
            </a:prstGeom>
          </p:spPr>
          <p:txBody>
            <a:bodyPr anchor="ctr" rtlCol="false" tIns="50800" lIns="50800" bIns="50800" rIns="50800"/>
            <a:lstStyle/>
            <a:p>
              <a:pPr algn="ctr">
                <a:lnSpc>
                  <a:spcPts val="3137"/>
                </a:lnSpc>
              </a:pPr>
            </a:p>
          </p:txBody>
        </p:sp>
      </p:grpSp>
      <p:sp>
        <p:nvSpPr>
          <p:cNvPr name="Freeform 5" id="5"/>
          <p:cNvSpPr/>
          <p:nvPr/>
        </p:nvSpPr>
        <p:spPr>
          <a:xfrm flipH="false" flipV="false" rot="0">
            <a:off x="10269856" y="8711382"/>
            <a:ext cx="3486148" cy="3481791"/>
          </a:xfrm>
          <a:custGeom>
            <a:avLst/>
            <a:gdLst/>
            <a:ahLst/>
            <a:cxnLst/>
            <a:rect r="r" b="b" t="t" l="l"/>
            <a:pathLst>
              <a:path h="3481791" w="3486148">
                <a:moveTo>
                  <a:pt x="0" y="0"/>
                </a:moveTo>
                <a:lnTo>
                  <a:pt x="3486148" y="0"/>
                </a:lnTo>
                <a:lnTo>
                  <a:pt x="3486148" y="3481791"/>
                </a:lnTo>
                <a:lnTo>
                  <a:pt x="0" y="3481791"/>
                </a:lnTo>
                <a:lnTo>
                  <a:pt x="0" y="0"/>
                </a:lnTo>
                <a:close/>
              </a:path>
            </a:pathLst>
          </a:custGeom>
          <a:blipFill>
            <a:blip r:embed="rId2"/>
            <a:stretch>
              <a:fillRect l="0" t="0" r="0" b="0"/>
            </a:stretch>
          </a:blipFill>
          <a:ln cap="sq">
            <a:noFill/>
            <a:prstDash val="solid"/>
            <a:miter/>
          </a:ln>
        </p:spPr>
      </p:sp>
      <p:sp>
        <p:nvSpPr>
          <p:cNvPr name="Freeform 6" id="6"/>
          <p:cNvSpPr/>
          <p:nvPr/>
        </p:nvSpPr>
        <p:spPr>
          <a:xfrm flipH="false" flipV="false" rot="0">
            <a:off x="-1823359" y="-1857785"/>
            <a:ext cx="3486148" cy="3481791"/>
          </a:xfrm>
          <a:custGeom>
            <a:avLst/>
            <a:gdLst/>
            <a:ahLst/>
            <a:cxnLst/>
            <a:rect r="r" b="b" t="t" l="l"/>
            <a:pathLst>
              <a:path h="3481791" w="3486148">
                <a:moveTo>
                  <a:pt x="0" y="0"/>
                </a:moveTo>
                <a:lnTo>
                  <a:pt x="3486148" y="0"/>
                </a:lnTo>
                <a:lnTo>
                  <a:pt x="3486148" y="3481791"/>
                </a:lnTo>
                <a:lnTo>
                  <a:pt x="0" y="3481791"/>
                </a:lnTo>
                <a:lnTo>
                  <a:pt x="0" y="0"/>
                </a:lnTo>
                <a:close/>
              </a:path>
            </a:pathLst>
          </a:custGeom>
          <a:blipFill>
            <a:blip r:embed="rId2"/>
            <a:stretch>
              <a:fillRect l="0" t="0" r="0" b="0"/>
            </a:stretch>
          </a:blipFill>
          <a:ln cap="sq">
            <a:noFill/>
            <a:prstDash val="solid"/>
            <a:miter/>
          </a:ln>
        </p:spPr>
      </p:sp>
      <p:sp>
        <p:nvSpPr>
          <p:cNvPr name="Freeform 7" id="7"/>
          <p:cNvSpPr/>
          <p:nvPr/>
        </p:nvSpPr>
        <p:spPr>
          <a:xfrm flipH="false" flipV="false" rot="0">
            <a:off x="10546416" y="5201020"/>
            <a:ext cx="711605" cy="711605"/>
          </a:xfrm>
          <a:custGeom>
            <a:avLst/>
            <a:gdLst/>
            <a:ahLst/>
            <a:cxnLst/>
            <a:rect r="r" b="b" t="t" l="l"/>
            <a:pathLst>
              <a:path h="711605" w="711605">
                <a:moveTo>
                  <a:pt x="0" y="0"/>
                </a:moveTo>
                <a:lnTo>
                  <a:pt x="711605" y="0"/>
                </a:lnTo>
                <a:lnTo>
                  <a:pt x="711605" y="711605"/>
                </a:lnTo>
                <a:lnTo>
                  <a:pt x="0" y="711605"/>
                </a:lnTo>
                <a:lnTo>
                  <a:pt x="0" y="0"/>
                </a:lnTo>
                <a:close/>
              </a:path>
            </a:pathLst>
          </a:custGeom>
          <a:blipFill>
            <a:blip r:embed="rId3"/>
            <a:stretch>
              <a:fillRect l="0" t="0" r="0" b="0"/>
            </a:stretch>
          </a:blipFill>
          <a:ln cap="sq">
            <a:noFill/>
            <a:prstDash val="solid"/>
            <a:miter/>
          </a:ln>
        </p:spPr>
      </p:sp>
      <p:sp>
        <p:nvSpPr>
          <p:cNvPr name="Freeform 8" id="8"/>
          <p:cNvSpPr/>
          <p:nvPr/>
        </p:nvSpPr>
        <p:spPr>
          <a:xfrm flipH="false" flipV="false" rot="0">
            <a:off x="10546416" y="171879"/>
            <a:ext cx="1509818" cy="856821"/>
          </a:xfrm>
          <a:custGeom>
            <a:avLst/>
            <a:gdLst/>
            <a:ahLst/>
            <a:cxnLst/>
            <a:rect r="r" b="b" t="t" l="l"/>
            <a:pathLst>
              <a:path h="856821" w="1509818">
                <a:moveTo>
                  <a:pt x="0" y="0"/>
                </a:moveTo>
                <a:lnTo>
                  <a:pt x="1509818" y="0"/>
                </a:lnTo>
                <a:lnTo>
                  <a:pt x="1509818" y="856821"/>
                </a:lnTo>
                <a:lnTo>
                  <a:pt x="0" y="856821"/>
                </a:lnTo>
                <a:lnTo>
                  <a:pt x="0" y="0"/>
                </a:lnTo>
                <a:close/>
              </a:path>
            </a:pathLst>
          </a:custGeom>
          <a:blipFill>
            <a:blip r:embed="rId4"/>
            <a:stretch>
              <a:fillRect l="0" t="0" r="0" b="0"/>
            </a:stretch>
          </a:blipFill>
        </p:spPr>
      </p:sp>
      <p:sp>
        <p:nvSpPr>
          <p:cNvPr name="Freeform 9" id="9"/>
          <p:cNvSpPr/>
          <p:nvPr/>
        </p:nvSpPr>
        <p:spPr>
          <a:xfrm flipH="false" flipV="false" rot="0">
            <a:off x="273791" y="9858589"/>
            <a:ext cx="1509818" cy="856821"/>
          </a:xfrm>
          <a:custGeom>
            <a:avLst/>
            <a:gdLst/>
            <a:ahLst/>
            <a:cxnLst/>
            <a:rect r="r" b="b" t="t" l="l"/>
            <a:pathLst>
              <a:path h="856821" w="1509818">
                <a:moveTo>
                  <a:pt x="0" y="0"/>
                </a:moveTo>
                <a:lnTo>
                  <a:pt x="1509818" y="0"/>
                </a:lnTo>
                <a:lnTo>
                  <a:pt x="1509818" y="856822"/>
                </a:lnTo>
                <a:lnTo>
                  <a:pt x="0" y="856822"/>
                </a:lnTo>
                <a:lnTo>
                  <a:pt x="0" y="0"/>
                </a:lnTo>
                <a:close/>
              </a:path>
            </a:pathLst>
          </a:custGeom>
          <a:blipFill>
            <a:blip r:embed="rId4"/>
            <a:stretch>
              <a:fillRect l="0" t="0" r="0" b="0"/>
            </a:stretch>
          </a:blipFill>
        </p:spPr>
      </p:sp>
      <p:grpSp>
        <p:nvGrpSpPr>
          <p:cNvPr name="Group 10" id="10"/>
          <p:cNvGrpSpPr/>
          <p:nvPr/>
        </p:nvGrpSpPr>
        <p:grpSpPr>
          <a:xfrm rot="-10800000">
            <a:off x="1274759" y="6265139"/>
            <a:ext cx="5856018" cy="1078309"/>
            <a:chOff x="0" y="0"/>
            <a:chExt cx="1352556" cy="249055"/>
          </a:xfrm>
        </p:grpSpPr>
        <p:sp>
          <p:nvSpPr>
            <p:cNvPr name="Freeform 11" id="11"/>
            <p:cNvSpPr/>
            <p:nvPr/>
          </p:nvSpPr>
          <p:spPr>
            <a:xfrm flipH="false" flipV="false" rot="0">
              <a:off x="0" y="0"/>
              <a:ext cx="1352556" cy="249055"/>
            </a:xfrm>
            <a:custGeom>
              <a:avLst/>
              <a:gdLst/>
              <a:ahLst/>
              <a:cxnLst/>
              <a:rect r="r" b="b" t="t" l="l"/>
              <a:pathLst>
                <a:path h="249055" w="1352556">
                  <a:moveTo>
                    <a:pt x="124528" y="0"/>
                  </a:moveTo>
                  <a:lnTo>
                    <a:pt x="1228028" y="0"/>
                  </a:lnTo>
                  <a:cubicBezTo>
                    <a:pt x="1296803" y="0"/>
                    <a:pt x="1352556" y="55753"/>
                    <a:pt x="1352556" y="124528"/>
                  </a:cubicBezTo>
                  <a:lnTo>
                    <a:pt x="1352556" y="124528"/>
                  </a:lnTo>
                  <a:cubicBezTo>
                    <a:pt x="1352556" y="157555"/>
                    <a:pt x="1339436" y="189229"/>
                    <a:pt x="1316082" y="212582"/>
                  </a:cubicBezTo>
                  <a:cubicBezTo>
                    <a:pt x="1292729" y="235936"/>
                    <a:pt x="1261055" y="249055"/>
                    <a:pt x="1228028" y="249055"/>
                  </a:cubicBezTo>
                  <a:lnTo>
                    <a:pt x="124528" y="249055"/>
                  </a:lnTo>
                  <a:cubicBezTo>
                    <a:pt x="91501" y="249055"/>
                    <a:pt x="59827" y="235936"/>
                    <a:pt x="36473" y="212582"/>
                  </a:cubicBezTo>
                  <a:cubicBezTo>
                    <a:pt x="13120" y="189229"/>
                    <a:pt x="0" y="157555"/>
                    <a:pt x="0" y="124528"/>
                  </a:cubicBezTo>
                  <a:lnTo>
                    <a:pt x="0" y="124528"/>
                  </a:lnTo>
                  <a:cubicBezTo>
                    <a:pt x="0" y="91501"/>
                    <a:pt x="13120" y="59827"/>
                    <a:pt x="36473" y="36473"/>
                  </a:cubicBezTo>
                  <a:cubicBezTo>
                    <a:pt x="59827" y="13120"/>
                    <a:pt x="91501" y="0"/>
                    <a:pt x="124528" y="0"/>
                  </a:cubicBezTo>
                  <a:close/>
                </a:path>
              </a:pathLst>
            </a:custGeom>
            <a:solidFill>
              <a:srgbClr val="014AAB"/>
            </a:solidFill>
          </p:spPr>
        </p:sp>
        <p:sp>
          <p:nvSpPr>
            <p:cNvPr name="TextBox 12" id="12"/>
            <p:cNvSpPr txBox="true"/>
            <p:nvPr/>
          </p:nvSpPr>
          <p:spPr>
            <a:xfrm>
              <a:off x="0" y="-47625"/>
              <a:ext cx="1352556" cy="296680"/>
            </a:xfrm>
            <a:prstGeom prst="rect">
              <a:avLst/>
            </a:prstGeom>
          </p:spPr>
          <p:txBody>
            <a:bodyPr anchor="ctr" rtlCol="false" tIns="50800" lIns="50800" bIns="50800" rIns="50800"/>
            <a:lstStyle/>
            <a:p>
              <a:pPr algn="ctr" marL="0" indent="0" lvl="0">
                <a:lnSpc>
                  <a:spcPts val="2800"/>
                </a:lnSpc>
              </a:pPr>
            </a:p>
          </p:txBody>
        </p:sp>
      </p:grpSp>
      <p:sp>
        <p:nvSpPr>
          <p:cNvPr name="TextBox 13" id="13"/>
          <p:cNvSpPr txBox="true"/>
          <p:nvPr/>
        </p:nvSpPr>
        <p:spPr>
          <a:xfrm rot="0">
            <a:off x="1274759" y="4352660"/>
            <a:ext cx="6530721" cy="1904619"/>
          </a:xfrm>
          <a:prstGeom prst="rect">
            <a:avLst/>
          </a:prstGeom>
        </p:spPr>
        <p:txBody>
          <a:bodyPr anchor="t" rtlCol="false" tIns="0" lIns="0" bIns="0" rIns="0">
            <a:spAutoFit/>
          </a:bodyPr>
          <a:lstStyle/>
          <a:p>
            <a:pPr algn="l" marL="0" indent="0" lvl="0">
              <a:lnSpc>
                <a:spcPts val="14992"/>
              </a:lnSpc>
            </a:pPr>
            <a:r>
              <a:rPr lang="en-US" b="true" sz="12493" spc="187">
                <a:solidFill>
                  <a:srgbClr val="011A3C"/>
                </a:solidFill>
                <a:latin typeface="Gotham Bold"/>
                <a:ea typeface="Gotham Bold"/>
                <a:cs typeface="Gotham Bold"/>
                <a:sym typeface="Gotham Bold"/>
              </a:rPr>
              <a:t>YOU</a:t>
            </a:r>
          </a:p>
        </p:txBody>
      </p:sp>
      <p:sp>
        <p:nvSpPr>
          <p:cNvPr name="TextBox 14" id="14"/>
          <p:cNvSpPr txBox="true"/>
          <p:nvPr/>
        </p:nvSpPr>
        <p:spPr>
          <a:xfrm rot="0">
            <a:off x="1274759" y="2934067"/>
            <a:ext cx="6530721" cy="1904619"/>
          </a:xfrm>
          <a:prstGeom prst="rect">
            <a:avLst/>
          </a:prstGeom>
        </p:spPr>
        <p:txBody>
          <a:bodyPr anchor="t" rtlCol="false" tIns="0" lIns="0" bIns="0" rIns="0">
            <a:spAutoFit/>
          </a:bodyPr>
          <a:lstStyle/>
          <a:p>
            <a:pPr algn="l" marL="0" indent="0" lvl="0">
              <a:lnSpc>
                <a:spcPts val="14992"/>
              </a:lnSpc>
            </a:pPr>
            <a:r>
              <a:rPr lang="en-US" b="true" sz="12493" spc="187">
                <a:solidFill>
                  <a:srgbClr val="011A3C"/>
                </a:solidFill>
                <a:latin typeface="Gotham Bold"/>
                <a:ea typeface="Gotham Bold"/>
                <a:cs typeface="Gotham Bold"/>
                <a:sym typeface="Gotham Bold"/>
              </a:rPr>
              <a:t>THANK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DAHGEf7CO4M</dc:identifier>
  <dcterms:modified xsi:type="dcterms:W3CDTF">2011-08-01T06:04:30Z</dcterms:modified>
  <cp:revision>1</cp:revision>
  <dc:title>Pradumn</dc:title>
</cp:coreProperties>
</file>